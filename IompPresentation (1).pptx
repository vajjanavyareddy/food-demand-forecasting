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9" r:id="rId1"/>
  </p:sldMasterIdLst>
  <p:notesMasterIdLst>
    <p:notesMasterId r:id="rId22"/>
  </p:notesMasterIdLst>
  <p:sldIdLst>
    <p:sldId id="256" r:id="rId2"/>
    <p:sldId id="303" r:id="rId3"/>
    <p:sldId id="304" r:id="rId4"/>
    <p:sldId id="322" r:id="rId5"/>
    <p:sldId id="327" r:id="rId6"/>
    <p:sldId id="306" r:id="rId7"/>
    <p:sldId id="307" r:id="rId8"/>
    <p:sldId id="311" r:id="rId9"/>
    <p:sldId id="308" r:id="rId10"/>
    <p:sldId id="309" r:id="rId11"/>
    <p:sldId id="313" r:id="rId12"/>
    <p:sldId id="317" r:id="rId13"/>
    <p:sldId id="323" r:id="rId14"/>
    <p:sldId id="324" r:id="rId15"/>
    <p:sldId id="325" r:id="rId16"/>
    <p:sldId id="328" r:id="rId17"/>
    <p:sldId id="326" r:id="rId18"/>
    <p:sldId id="315" r:id="rId19"/>
    <p:sldId id="312"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ADC983-DEA5-4343-A23E-833901EC4050}" v="26" dt="2026-03-01T11:05:49.5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0" d="100"/>
          <a:sy n="70" d="100"/>
        </p:scale>
        <p:origin x="52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 Reddy" userId="7dc62a316f7cb23e" providerId="LiveId" clId="{DAC23D8D-31F2-4064-8B1B-80A48B7B2DAE}"/>
    <pc:docChg chg="custSel addSld modSld">
      <pc:chgData name="Navya Reddy" userId="7dc62a316f7cb23e" providerId="LiveId" clId="{DAC23D8D-31F2-4064-8B1B-80A48B7B2DAE}" dt="2026-03-01T11:05:49.561" v="74" actId="1076"/>
      <pc:docMkLst>
        <pc:docMk/>
      </pc:docMkLst>
      <pc:sldChg chg="addSp delSp modSp mod">
        <pc:chgData name="Navya Reddy" userId="7dc62a316f7cb23e" providerId="LiveId" clId="{DAC23D8D-31F2-4064-8B1B-80A48B7B2DAE}" dt="2026-03-01T10:56:50.353" v="53" actId="20577"/>
        <pc:sldMkLst>
          <pc:docMk/>
          <pc:sldMk cId="728386989" sldId="315"/>
        </pc:sldMkLst>
        <pc:spChg chg="add mod">
          <ac:chgData name="Navya Reddy" userId="7dc62a316f7cb23e" providerId="LiveId" clId="{DAC23D8D-31F2-4064-8B1B-80A48B7B2DAE}" dt="2026-03-01T10:56:50.353" v="53" actId="20577"/>
          <ac:spMkLst>
            <pc:docMk/>
            <pc:sldMk cId="728386989" sldId="315"/>
            <ac:spMk id="3" creationId="{D164CE47-A484-7E8E-D73D-D804503D698C}"/>
          </ac:spMkLst>
        </pc:spChg>
        <pc:spChg chg="del mod">
          <ac:chgData name="Navya Reddy" userId="7dc62a316f7cb23e" providerId="LiveId" clId="{DAC23D8D-31F2-4064-8B1B-80A48B7B2DAE}" dt="2026-03-01T10:54:57.597" v="32" actId="478"/>
          <ac:spMkLst>
            <pc:docMk/>
            <pc:sldMk cId="728386989" sldId="315"/>
            <ac:spMk id="7" creationId="{2469CAF8-B403-2C25-98D3-296CB4E88880}"/>
          </ac:spMkLst>
        </pc:spChg>
        <pc:spChg chg="del">
          <ac:chgData name="Navya Reddy" userId="7dc62a316f7cb23e" providerId="LiveId" clId="{DAC23D8D-31F2-4064-8B1B-80A48B7B2DAE}" dt="2026-03-01T10:55:00.442" v="33" actId="478"/>
          <ac:spMkLst>
            <pc:docMk/>
            <pc:sldMk cId="728386989" sldId="315"/>
            <ac:spMk id="11" creationId="{43EEBCE5-8550-0433-FB8E-275ED9473671}"/>
          </ac:spMkLst>
        </pc:spChg>
        <pc:spChg chg="del mod">
          <ac:chgData name="Navya Reddy" userId="7dc62a316f7cb23e" providerId="LiveId" clId="{DAC23D8D-31F2-4064-8B1B-80A48B7B2DAE}" dt="2026-03-01T10:55:10.120" v="36" actId="478"/>
          <ac:spMkLst>
            <pc:docMk/>
            <pc:sldMk cId="728386989" sldId="315"/>
            <ac:spMk id="13" creationId="{E7187267-F0C6-4780-499C-10DEE9E1617B}"/>
          </ac:spMkLst>
        </pc:spChg>
        <pc:spChg chg="del">
          <ac:chgData name="Navya Reddy" userId="7dc62a316f7cb23e" providerId="LiveId" clId="{DAC23D8D-31F2-4064-8B1B-80A48B7B2DAE}" dt="2026-03-01T10:55:13.194" v="37" actId="478"/>
          <ac:spMkLst>
            <pc:docMk/>
            <pc:sldMk cId="728386989" sldId="315"/>
            <ac:spMk id="14" creationId="{42ECB521-A53A-5DE6-7366-06274526A0BD}"/>
          </ac:spMkLst>
        </pc:spChg>
        <pc:spChg chg="del">
          <ac:chgData name="Navya Reddy" userId="7dc62a316f7cb23e" providerId="LiveId" clId="{DAC23D8D-31F2-4064-8B1B-80A48B7B2DAE}" dt="2026-03-01T10:55:15.292" v="38" actId="478"/>
          <ac:spMkLst>
            <pc:docMk/>
            <pc:sldMk cId="728386989" sldId="315"/>
            <ac:spMk id="15" creationId="{CC47F435-EB5B-A3C6-D197-F457C5512FFC}"/>
          </ac:spMkLst>
        </pc:spChg>
      </pc:sldChg>
      <pc:sldChg chg="addSp delSp modSp mod chgLayout">
        <pc:chgData name="Navya Reddy" userId="7dc62a316f7cb23e" providerId="LiveId" clId="{DAC23D8D-31F2-4064-8B1B-80A48B7B2DAE}" dt="2026-03-01T11:05:49.561" v="74" actId="1076"/>
        <pc:sldMkLst>
          <pc:docMk/>
          <pc:sldMk cId="3210860515" sldId="323"/>
        </pc:sldMkLst>
        <pc:spChg chg="mod ord">
          <ac:chgData name="Navya Reddy" userId="7dc62a316f7cb23e" providerId="LiveId" clId="{DAC23D8D-31F2-4064-8B1B-80A48B7B2DAE}" dt="2026-03-01T11:04:40.715" v="69" actId="1076"/>
          <ac:spMkLst>
            <pc:docMk/>
            <pc:sldMk cId="3210860515" sldId="323"/>
            <ac:spMk id="2" creationId="{789FFD4B-B39F-94EB-FC9C-18A223861040}"/>
          </ac:spMkLst>
        </pc:spChg>
        <pc:spChg chg="mod ord">
          <ac:chgData name="Navya Reddy" userId="7dc62a316f7cb23e" providerId="LiveId" clId="{DAC23D8D-31F2-4064-8B1B-80A48B7B2DAE}" dt="2026-03-01T11:04:18.918" v="65" actId="6264"/>
          <ac:spMkLst>
            <pc:docMk/>
            <pc:sldMk cId="3210860515" sldId="323"/>
            <ac:spMk id="3" creationId="{EA62B266-16CF-4E2B-C478-2C271579762F}"/>
          </ac:spMkLst>
        </pc:spChg>
        <pc:spChg chg="add del mod">
          <ac:chgData name="Navya Reddy" userId="7dc62a316f7cb23e" providerId="LiveId" clId="{DAC23D8D-31F2-4064-8B1B-80A48B7B2DAE}" dt="2026-03-01T11:04:13.473" v="61" actId="6264"/>
          <ac:spMkLst>
            <pc:docMk/>
            <pc:sldMk cId="3210860515" sldId="323"/>
            <ac:spMk id="4" creationId="{74D8BC02-BD4F-AAD0-24F4-E606B9DC2F71}"/>
          </ac:spMkLst>
        </pc:spChg>
        <pc:spChg chg="add del mod">
          <ac:chgData name="Navya Reddy" userId="7dc62a316f7cb23e" providerId="LiveId" clId="{DAC23D8D-31F2-4064-8B1B-80A48B7B2DAE}" dt="2026-03-01T11:04:13.473" v="61" actId="6264"/>
          <ac:spMkLst>
            <pc:docMk/>
            <pc:sldMk cId="3210860515" sldId="323"/>
            <ac:spMk id="5" creationId="{0254A1D3-F5E5-255F-95D5-536746A2D2C1}"/>
          </ac:spMkLst>
        </pc:spChg>
        <pc:spChg chg="add del mod">
          <ac:chgData name="Navya Reddy" userId="7dc62a316f7cb23e" providerId="LiveId" clId="{DAC23D8D-31F2-4064-8B1B-80A48B7B2DAE}" dt="2026-03-01T11:04:15.615" v="62" actId="6264"/>
          <ac:spMkLst>
            <pc:docMk/>
            <pc:sldMk cId="3210860515" sldId="323"/>
            <ac:spMk id="6" creationId="{2C387DAE-FC4A-E1D9-A5FC-0417DDEF81E9}"/>
          </ac:spMkLst>
        </pc:spChg>
        <pc:spChg chg="add del mod">
          <ac:chgData name="Navya Reddy" userId="7dc62a316f7cb23e" providerId="LiveId" clId="{DAC23D8D-31F2-4064-8B1B-80A48B7B2DAE}" dt="2026-03-01T11:04:15.615" v="62" actId="6264"/>
          <ac:spMkLst>
            <pc:docMk/>
            <pc:sldMk cId="3210860515" sldId="323"/>
            <ac:spMk id="7" creationId="{D81FD485-56DC-5549-B5E2-FA69EEB756C3}"/>
          </ac:spMkLst>
        </pc:spChg>
        <pc:spChg chg="add del mod">
          <ac:chgData name="Navya Reddy" userId="7dc62a316f7cb23e" providerId="LiveId" clId="{DAC23D8D-31F2-4064-8B1B-80A48B7B2DAE}" dt="2026-03-01T11:04:16.801" v="63" actId="6264"/>
          <ac:spMkLst>
            <pc:docMk/>
            <pc:sldMk cId="3210860515" sldId="323"/>
            <ac:spMk id="8" creationId="{0C0CACFE-7CE6-9C35-DDB2-7488E517206A}"/>
          </ac:spMkLst>
        </pc:spChg>
        <pc:spChg chg="add del mod">
          <ac:chgData name="Navya Reddy" userId="7dc62a316f7cb23e" providerId="LiveId" clId="{DAC23D8D-31F2-4064-8B1B-80A48B7B2DAE}" dt="2026-03-01T11:04:16.801" v="63" actId="6264"/>
          <ac:spMkLst>
            <pc:docMk/>
            <pc:sldMk cId="3210860515" sldId="323"/>
            <ac:spMk id="9" creationId="{E5E01880-2DE9-9E4D-F98E-3400F13290EB}"/>
          </ac:spMkLst>
        </pc:spChg>
        <pc:spChg chg="add del mod">
          <ac:chgData name="Navya Reddy" userId="7dc62a316f7cb23e" providerId="LiveId" clId="{DAC23D8D-31F2-4064-8B1B-80A48B7B2DAE}" dt="2026-03-01T11:04:18.102" v="64" actId="6264"/>
          <ac:spMkLst>
            <pc:docMk/>
            <pc:sldMk cId="3210860515" sldId="323"/>
            <ac:spMk id="10" creationId="{2BA03328-7924-ADBF-1460-2EC35D71636E}"/>
          </ac:spMkLst>
        </pc:spChg>
        <pc:spChg chg="add del mod">
          <ac:chgData name="Navya Reddy" userId="7dc62a316f7cb23e" providerId="LiveId" clId="{DAC23D8D-31F2-4064-8B1B-80A48B7B2DAE}" dt="2026-03-01T11:04:18.102" v="64" actId="6264"/>
          <ac:spMkLst>
            <pc:docMk/>
            <pc:sldMk cId="3210860515" sldId="323"/>
            <ac:spMk id="11" creationId="{0DA87FE5-1621-21B0-002A-67FD0FDFAB36}"/>
          </ac:spMkLst>
        </pc:spChg>
        <pc:spChg chg="add del mod">
          <ac:chgData name="Navya Reddy" userId="7dc62a316f7cb23e" providerId="LiveId" clId="{DAC23D8D-31F2-4064-8B1B-80A48B7B2DAE}" dt="2026-03-01T11:04:18.918" v="65" actId="6264"/>
          <ac:spMkLst>
            <pc:docMk/>
            <pc:sldMk cId="3210860515" sldId="323"/>
            <ac:spMk id="12" creationId="{AA36FEB5-158C-E1D9-A3C2-115078BE113E}"/>
          </ac:spMkLst>
        </pc:spChg>
        <pc:spChg chg="add del mod">
          <ac:chgData name="Navya Reddy" userId="7dc62a316f7cb23e" providerId="LiveId" clId="{DAC23D8D-31F2-4064-8B1B-80A48B7B2DAE}" dt="2026-03-01T11:04:18.918" v="65" actId="6264"/>
          <ac:spMkLst>
            <pc:docMk/>
            <pc:sldMk cId="3210860515" sldId="323"/>
            <ac:spMk id="13" creationId="{43C82140-9BBF-547F-0C6B-E1EB81183194}"/>
          </ac:spMkLst>
        </pc:spChg>
        <pc:picChg chg="add mod">
          <ac:chgData name="Navya Reddy" userId="7dc62a316f7cb23e" providerId="LiveId" clId="{DAC23D8D-31F2-4064-8B1B-80A48B7B2DAE}" dt="2026-03-01T11:05:49.561" v="74" actId="1076"/>
          <ac:picMkLst>
            <pc:docMk/>
            <pc:sldMk cId="3210860515" sldId="323"/>
            <ac:picMk id="2050" creationId="{5765C96B-410D-938D-904B-C736C3B475C0}"/>
          </ac:picMkLst>
        </pc:picChg>
        <pc:picChg chg="del">
          <ac:chgData name="Navya Reddy" userId="7dc62a316f7cb23e" providerId="LiveId" clId="{DAC23D8D-31F2-4064-8B1B-80A48B7B2DAE}" dt="2026-03-01T11:03:01.054" v="54" actId="478"/>
          <ac:picMkLst>
            <pc:docMk/>
            <pc:sldMk cId="3210860515" sldId="323"/>
            <ac:picMk id="3076" creationId="{6FD4CEA0-9824-D567-0844-82A514E7A579}"/>
          </ac:picMkLst>
        </pc:picChg>
      </pc:sldChg>
      <pc:sldChg chg="addSp delSp modSp new mod">
        <pc:chgData name="Navya Reddy" userId="7dc62a316f7cb23e" providerId="LiveId" clId="{DAC23D8D-31F2-4064-8B1B-80A48B7B2DAE}" dt="2026-03-01T10:53:04.060" v="30" actId="1076"/>
        <pc:sldMkLst>
          <pc:docMk/>
          <pc:sldMk cId="426606901" sldId="328"/>
        </pc:sldMkLst>
        <pc:spChg chg="mod">
          <ac:chgData name="Navya Reddy" userId="7dc62a316f7cb23e" providerId="LiveId" clId="{DAC23D8D-31F2-4064-8B1B-80A48B7B2DAE}" dt="2026-03-01T10:52:58.071" v="29" actId="1076"/>
          <ac:spMkLst>
            <pc:docMk/>
            <pc:sldMk cId="426606901" sldId="328"/>
            <ac:spMk id="2" creationId="{D94D6C4F-2FED-A018-5998-0AE0CF2D3559}"/>
          </ac:spMkLst>
        </pc:spChg>
        <pc:picChg chg="add del mod">
          <ac:chgData name="Navya Reddy" userId="7dc62a316f7cb23e" providerId="LiveId" clId="{DAC23D8D-31F2-4064-8B1B-80A48B7B2DAE}" dt="2026-03-01T10:52:34.521" v="26" actId="478"/>
          <ac:picMkLst>
            <pc:docMk/>
            <pc:sldMk cId="426606901" sldId="328"/>
            <ac:picMk id="1026" creationId="{01CE24C3-6BF6-C921-D32B-282FB20A6166}"/>
          </ac:picMkLst>
        </pc:picChg>
        <pc:picChg chg="add mod">
          <ac:chgData name="Navya Reddy" userId="7dc62a316f7cb23e" providerId="LiveId" clId="{DAC23D8D-31F2-4064-8B1B-80A48B7B2DAE}" dt="2026-03-01T10:53:04.060" v="30" actId="1076"/>
          <ac:picMkLst>
            <pc:docMk/>
            <pc:sldMk cId="426606901" sldId="328"/>
            <ac:picMk id="1028" creationId="{524D6C1D-A70B-24EA-6AF3-2BC6C6E9D1A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E8926-8CAA-4D83-864F-3962AD69461A}" type="datetimeFigureOut">
              <a:rPr lang="en-IN" smtClean="0"/>
              <a:t>01-03-2026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D81F2-3907-489E-9444-5E87381946A4}" type="slidenum">
              <a:rPr lang="en-IN" smtClean="0"/>
              <a:t>‹#›</a:t>
            </a:fld>
            <a:endParaRPr lang="en-IN"/>
          </a:p>
        </p:txBody>
      </p:sp>
    </p:spTree>
    <p:extLst>
      <p:ext uri="{BB962C8B-B14F-4D97-AF65-F5344CB8AC3E}">
        <p14:creationId xmlns:p14="http://schemas.microsoft.com/office/powerpoint/2010/main" val="42712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3D81F2-3907-489E-9444-5E87381946A4}" type="slidenum">
              <a:rPr lang="en-IN" smtClean="0"/>
              <a:t>1</a:t>
            </a:fld>
            <a:endParaRPr lang="en-IN"/>
          </a:p>
        </p:txBody>
      </p:sp>
    </p:spTree>
    <p:extLst>
      <p:ext uri="{BB962C8B-B14F-4D97-AF65-F5344CB8AC3E}">
        <p14:creationId xmlns:p14="http://schemas.microsoft.com/office/powerpoint/2010/main" val="2700921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3D81F2-3907-489E-9444-5E87381946A4}" type="slidenum">
              <a:rPr lang="en-IN" smtClean="0"/>
              <a:t>6</a:t>
            </a:fld>
            <a:endParaRPr lang="en-IN"/>
          </a:p>
        </p:txBody>
      </p:sp>
    </p:spTree>
    <p:extLst>
      <p:ext uri="{BB962C8B-B14F-4D97-AF65-F5344CB8AC3E}">
        <p14:creationId xmlns:p14="http://schemas.microsoft.com/office/powerpoint/2010/main" val="3100791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3D81F2-3907-489E-9444-5E87381946A4}" type="slidenum">
              <a:rPr lang="en-IN" smtClean="0"/>
              <a:t>7</a:t>
            </a:fld>
            <a:endParaRPr lang="en-IN"/>
          </a:p>
        </p:txBody>
      </p:sp>
    </p:spTree>
    <p:extLst>
      <p:ext uri="{BB962C8B-B14F-4D97-AF65-F5344CB8AC3E}">
        <p14:creationId xmlns:p14="http://schemas.microsoft.com/office/powerpoint/2010/main" val="3228277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3D81F2-3907-489E-9444-5E87381946A4}" type="slidenum">
              <a:rPr lang="en-IN" smtClean="0"/>
              <a:t>8</a:t>
            </a:fld>
            <a:endParaRPr lang="en-IN"/>
          </a:p>
        </p:txBody>
      </p:sp>
    </p:spTree>
    <p:extLst>
      <p:ext uri="{BB962C8B-B14F-4D97-AF65-F5344CB8AC3E}">
        <p14:creationId xmlns:p14="http://schemas.microsoft.com/office/powerpoint/2010/main" val="2591611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5113-A4DD-6622-20D3-A90FE4933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344AC8-05E7-083F-9B10-9FF32371D4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6009D5-E0B7-3ABC-777E-4E76D333A900}"/>
              </a:ext>
            </a:extLst>
          </p:cNvPr>
          <p:cNvSpPr>
            <a:spLocks noGrp="1"/>
          </p:cNvSpPr>
          <p:nvPr>
            <p:ph type="dt" sz="half" idx="10"/>
          </p:nvPr>
        </p:nvSpPr>
        <p:spPr/>
        <p:txBody>
          <a:bodyPr/>
          <a:lstStyle/>
          <a:p>
            <a:fld id="{60712D42-2F25-4F41-A08C-D4EDC15E8BC7}" type="datetime1">
              <a:rPr lang="en-US" smtClean="0"/>
              <a:t>3/1/2026</a:t>
            </a:fld>
            <a:endParaRPr lang="en-US" dirty="0"/>
          </a:p>
        </p:txBody>
      </p:sp>
      <p:sp>
        <p:nvSpPr>
          <p:cNvPr id="5" name="Footer Placeholder 4">
            <a:extLst>
              <a:ext uri="{FF2B5EF4-FFF2-40B4-BE49-F238E27FC236}">
                <a16:creationId xmlns:a16="http://schemas.microsoft.com/office/drawing/2014/main" id="{444CF2B6-3591-69C2-5461-814192ED29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CEB81B-0A71-E2A5-C10A-89F80D41831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6200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B5461-28C2-A10F-9E04-B4B27A2A28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5D065C-DFC8-C03B-AE8C-997CB0CB04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247DE-7213-2DE8-E033-F42B0D154E81}"/>
              </a:ext>
            </a:extLst>
          </p:cNvPr>
          <p:cNvSpPr>
            <a:spLocks noGrp="1"/>
          </p:cNvSpPr>
          <p:nvPr>
            <p:ph type="dt" sz="half" idx="10"/>
          </p:nvPr>
        </p:nvSpPr>
        <p:spPr/>
        <p:txBody>
          <a:bodyPr/>
          <a:lstStyle/>
          <a:p>
            <a:fld id="{1C9668F6-91AE-4B6C-943E-E2F964D5CBC6}" type="datetime1">
              <a:rPr lang="en-US" smtClean="0"/>
              <a:t>3/1/2026</a:t>
            </a:fld>
            <a:endParaRPr lang="en-US" dirty="0"/>
          </a:p>
        </p:txBody>
      </p:sp>
      <p:sp>
        <p:nvSpPr>
          <p:cNvPr id="5" name="Footer Placeholder 4">
            <a:extLst>
              <a:ext uri="{FF2B5EF4-FFF2-40B4-BE49-F238E27FC236}">
                <a16:creationId xmlns:a16="http://schemas.microsoft.com/office/drawing/2014/main" id="{04278FEF-C1BF-7AE2-059C-C320DBA5DB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2A7D46-6BCE-A592-8892-79CE058B0BBA}"/>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306525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95DA-19D8-3F2B-D4DE-89BB950347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03F056-DE67-0F77-3979-205DAA4DD3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BBC42-4A19-A9A1-A374-8299FCD353F5}"/>
              </a:ext>
            </a:extLst>
          </p:cNvPr>
          <p:cNvSpPr>
            <a:spLocks noGrp="1"/>
          </p:cNvSpPr>
          <p:nvPr>
            <p:ph type="dt" sz="half" idx="10"/>
          </p:nvPr>
        </p:nvSpPr>
        <p:spPr/>
        <p:txBody>
          <a:bodyPr/>
          <a:lstStyle/>
          <a:p>
            <a:fld id="{408C4849-A006-49C5-84CB-D3B461049D19}" type="datetime1">
              <a:rPr lang="en-US" smtClean="0"/>
              <a:t>3/1/2026</a:t>
            </a:fld>
            <a:endParaRPr lang="en-US" dirty="0"/>
          </a:p>
        </p:txBody>
      </p:sp>
      <p:sp>
        <p:nvSpPr>
          <p:cNvPr id="5" name="Footer Placeholder 4">
            <a:extLst>
              <a:ext uri="{FF2B5EF4-FFF2-40B4-BE49-F238E27FC236}">
                <a16:creationId xmlns:a16="http://schemas.microsoft.com/office/drawing/2014/main" id="{22D20D15-3AD3-09A7-BCFC-3FF52E4D7CE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704C6BC-18B3-9634-0314-C6EC427DD64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165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B03F-C52F-BDCF-ABDA-B3FBC83502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4C7D2D-E148-4C08-2FB6-DFCB71A748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FAD9C8-3328-64F9-2697-AC4B0AD8A4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471A317-EED8-3987-B057-9090153DA622}"/>
              </a:ext>
            </a:extLst>
          </p:cNvPr>
          <p:cNvSpPr>
            <a:spLocks noGrp="1"/>
          </p:cNvSpPr>
          <p:nvPr>
            <p:ph type="dt" sz="half" idx="10"/>
          </p:nvPr>
        </p:nvSpPr>
        <p:spPr/>
        <p:txBody>
          <a:bodyPr/>
          <a:lstStyle/>
          <a:p>
            <a:fld id="{39148EEC-7D77-4E25-9BD3-571645F5E848}" type="datetime1">
              <a:rPr lang="en-US" smtClean="0"/>
              <a:t>3/1/2026</a:t>
            </a:fld>
            <a:endParaRPr lang="en-US" dirty="0"/>
          </a:p>
        </p:txBody>
      </p:sp>
      <p:sp>
        <p:nvSpPr>
          <p:cNvPr id="6" name="Footer Placeholder 5">
            <a:extLst>
              <a:ext uri="{FF2B5EF4-FFF2-40B4-BE49-F238E27FC236}">
                <a16:creationId xmlns:a16="http://schemas.microsoft.com/office/drawing/2014/main" id="{1D447C5A-95A2-692F-E992-EAED5136818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6B2433-2DE7-8167-E906-6880CA5CC286}"/>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5444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9F678-5F91-8978-9C30-74F9CE22B0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16E54A-FBC7-845D-66C8-18A2526032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50D023-F623-FD42-8757-F22DC4CB5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44CBC7-F317-D935-7101-12FEFE529D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3A70E2-78A3-6987-915E-97787B7DED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CDBE98-2C01-4DBA-3982-119D94FF970B}"/>
              </a:ext>
            </a:extLst>
          </p:cNvPr>
          <p:cNvSpPr>
            <a:spLocks noGrp="1"/>
          </p:cNvSpPr>
          <p:nvPr>
            <p:ph type="dt" sz="half" idx="10"/>
          </p:nvPr>
        </p:nvSpPr>
        <p:spPr/>
        <p:txBody>
          <a:bodyPr/>
          <a:lstStyle/>
          <a:p>
            <a:fld id="{DFD6D2E7-1492-41C7-8FB6-DE66F246419C}" type="datetime1">
              <a:rPr lang="en-US" smtClean="0"/>
              <a:t>3/1/2026</a:t>
            </a:fld>
            <a:endParaRPr lang="en-US" dirty="0"/>
          </a:p>
        </p:txBody>
      </p:sp>
      <p:sp>
        <p:nvSpPr>
          <p:cNvPr id="8" name="Footer Placeholder 7">
            <a:extLst>
              <a:ext uri="{FF2B5EF4-FFF2-40B4-BE49-F238E27FC236}">
                <a16:creationId xmlns:a16="http://schemas.microsoft.com/office/drawing/2014/main" id="{3C68C4D4-C148-4BB0-8E0C-4515AE8A8A6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16BBF54-8D46-0EFF-25AC-845F4E12F80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0973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5497-2350-35AA-1064-B98402D3E7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1AE660-7643-F052-F8CE-8855881B688A}"/>
              </a:ext>
            </a:extLst>
          </p:cNvPr>
          <p:cNvSpPr>
            <a:spLocks noGrp="1"/>
          </p:cNvSpPr>
          <p:nvPr>
            <p:ph type="dt" sz="half" idx="10"/>
          </p:nvPr>
        </p:nvSpPr>
        <p:spPr/>
        <p:txBody>
          <a:bodyPr/>
          <a:lstStyle/>
          <a:p>
            <a:fld id="{0FB60402-28F7-40D8-B75C-1CF21B5CA865}" type="datetime1">
              <a:rPr lang="en-US" smtClean="0"/>
              <a:t>3/1/2026</a:t>
            </a:fld>
            <a:endParaRPr lang="en-US" dirty="0"/>
          </a:p>
        </p:txBody>
      </p:sp>
      <p:sp>
        <p:nvSpPr>
          <p:cNvPr id="4" name="Footer Placeholder 3">
            <a:extLst>
              <a:ext uri="{FF2B5EF4-FFF2-40B4-BE49-F238E27FC236}">
                <a16:creationId xmlns:a16="http://schemas.microsoft.com/office/drawing/2014/main" id="{A13488B6-45CA-5763-A243-E0D3D6CDEB1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14FE031-4543-9740-A54D-E270F6B0BB0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8963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BF5F5C-E0BA-0E3B-BC0E-85DCAB52D8D9}"/>
              </a:ext>
            </a:extLst>
          </p:cNvPr>
          <p:cNvSpPr>
            <a:spLocks noGrp="1"/>
          </p:cNvSpPr>
          <p:nvPr>
            <p:ph type="dt" sz="half" idx="10"/>
          </p:nvPr>
        </p:nvSpPr>
        <p:spPr/>
        <p:txBody>
          <a:bodyPr/>
          <a:lstStyle/>
          <a:p>
            <a:fld id="{CAB18EA6-72D5-4BBF-B45D-9ED1B2D8E602}" type="datetime1">
              <a:rPr lang="en-US" smtClean="0"/>
              <a:t>3/1/2026</a:t>
            </a:fld>
            <a:endParaRPr lang="en-US" dirty="0"/>
          </a:p>
        </p:txBody>
      </p:sp>
      <p:sp>
        <p:nvSpPr>
          <p:cNvPr id="3" name="Footer Placeholder 2">
            <a:extLst>
              <a:ext uri="{FF2B5EF4-FFF2-40B4-BE49-F238E27FC236}">
                <a16:creationId xmlns:a16="http://schemas.microsoft.com/office/drawing/2014/main" id="{A49F5EC5-0457-F1AD-5D9C-6D9A980F8A2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32C97BC-7EEA-303F-0A8B-7CC465D901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1534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8B54-369A-3FB2-CFBE-F5EE329058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C784F8-511C-A5A7-EA1B-0AC2B18FB7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F65653-7E39-8424-4822-A3712B293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95B90F-2B39-6C1F-B968-1D095B661115}"/>
              </a:ext>
            </a:extLst>
          </p:cNvPr>
          <p:cNvSpPr>
            <a:spLocks noGrp="1"/>
          </p:cNvSpPr>
          <p:nvPr>
            <p:ph type="dt" sz="half" idx="10"/>
          </p:nvPr>
        </p:nvSpPr>
        <p:spPr/>
        <p:txBody>
          <a:bodyPr/>
          <a:lstStyle/>
          <a:p>
            <a:fld id="{C64B0C2E-FA1E-4072-8892-B7014B2D464F}" type="datetime1">
              <a:rPr lang="en-US" smtClean="0"/>
              <a:t>3/1/2026</a:t>
            </a:fld>
            <a:endParaRPr lang="en-US" dirty="0"/>
          </a:p>
        </p:txBody>
      </p:sp>
      <p:sp>
        <p:nvSpPr>
          <p:cNvPr id="6" name="Footer Placeholder 5">
            <a:extLst>
              <a:ext uri="{FF2B5EF4-FFF2-40B4-BE49-F238E27FC236}">
                <a16:creationId xmlns:a16="http://schemas.microsoft.com/office/drawing/2014/main" id="{0AFA1E52-FA0A-79E2-41A6-669E1EBED3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2915D0B-9325-5198-2A4C-0CF78AC47C32}"/>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220000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3798-7F6D-4463-8F31-9165BE86D4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42358A-4CE2-BA77-D189-58EA263379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6DA027-D259-1E5A-1296-08E18F229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2B0554-FE77-D135-2C18-608F82AE3D60}"/>
              </a:ext>
            </a:extLst>
          </p:cNvPr>
          <p:cNvSpPr>
            <a:spLocks noGrp="1"/>
          </p:cNvSpPr>
          <p:nvPr>
            <p:ph type="dt" sz="half" idx="10"/>
          </p:nvPr>
        </p:nvSpPr>
        <p:spPr/>
        <p:txBody>
          <a:bodyPr/>
          <a:lstStyle/>
          <a:p>
            <a:fld id="{CF10A26A-8D56-4920-848E-6B55C893CEA5}" type="datetime1">
              <a:rPr lang="en-US" smtClean="0"/>
              <a:t>3/1/2026</a:t>
            </a:fld>
            <a:endParaRPr lang="en-US" dirty="0"/>
          </a:p>
        </p:txBody>
      </p:sp>
      <p:sp>
        <p:nvSpPr>
          <p:cNvPr id="6" name="Footer Placeholder 5">
            <a:extLst>
              <a:ext uri="{FF2B5EF4-FFF2-40B4-BE49-F238E27FC236}">
                <a16:creationId xmlns:a16="http://schemas.microsoft.com/office/drawing/2014/main" id="{38F459FC-A5C5-95C9-74EF-54B4C24B61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0268503-E8C1-3C5D-50A0-95E34B1AB56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2419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5471E-B1A2-EC56-6894-5A845B57A5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FE8314-82DB-8437-8FC7-D005B1A473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EAB25-0C2D-DACE-F95E-DBADC0BF1464}"/>
              </a:ext>
            </a:extLst>
          </p:cNvPr>
          <p:cNvSpPr>
            <a:spLocks noGrp="1"/>
          </p:cNvSpPr>
          <p:nvPr>
            <p:ph type="dt" sz="half" idx="10"/>
          </p:nvPr>
        </p:nvSpPr>
        <p:spPr/>
        <p:txBody>
          <a:bodyPr/>
          <a:lstStyle/>
          <a:p>
            <a:fld id="{F99A2D53-48F5-428D-8942-5A3B9F525AEA}" type="datetime1">
              <a:rPr lang="en-US" smtClean="0"/>
              <a:t>3/1/2026</a:t>
            </a:fld>
            <a:endParaRPr lang="en-US" dirty="0"/>
          </a:p>
        </p:txBody>
      </p:sp>
      <p:sp>
        <p:nvSpPr>
          <p:cNvPr id="5" name="Footer Placeholder 4">
            <a:extLst>
              <a:ext uri="{FF2B5EF4-FFF2-40B4-BE49-F238E27FC236}">
                <a16:creationId xmlns:a16="http://schemas.microsoft.com/office/drawing/2014/main" id="{CEA36475-0510-1AAE-B45F-A2E3804EBF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0A1DB7-3325-BAB7-BF40-0A1469CA86CA}"/>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57051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C6E86-74B4-A160-00E9-D374AB66EB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B46BC7-AAE7-0751-7531-CD68B00B20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7C0848-C4AA-2286-A27A-F1657854577C}"/>
              </a:ext>
            </a:extLst>
          </p:cNvPr>
          <p:cNvSpPr>
            <a:spLocks noGrp="1"/>
          </p:cNvSpPr>
          <p:nvPr>
            <p:ph type="dt" sz="half" idx="10"/>
          </p:nvPr>
        </p:nvSpPr>
        <p:spPr/>
        <p:txBody>
          <a:bodyPr/>
          <a:lstStyle/>
          <a:p>
            <a:fld id="{ABC05B67-0786-4F6C-8C78-A4001F94E607}" type="datetime1">
              <a:rPr lang="en-US" smtClean="0"/>
              <a:t>3/1/2026</a:t>
            </a:fld>
            <a:endParaRPr lang="en-US" dirty="0"/>
          </a:p>
        </p:txBody>
      </p:sp>
      <p:sp>
        <p:nvSpPr>
          <p:cNvPr id="5" name="Footer Placeholder 4">
            <a:extLst>
              <a:ext uri="{FF2B5EF4-FFF2-40B4-BE49-F238E27FC236}">
                <a16:creationId xmlns:a16="http://schemas.microsoft.com/office/drawing/2014/main" id="{CBC73A58-74C4-294F-4692-1CD289F265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3D2B51-8B2A-84A8-373C-71D0418CB2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5540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4587F4-17A1-FA28-66D7-8FCC080BB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C2E66B-BB46-CC7B-3CCB-F81A7D9CAF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3B19AD-FD03-007A-68AE-317B64B55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3EB5C-B4A5-43B1-8958-A2F809DED26F}" type="datetime1">
              <a:rPr lang="en-US" smtClean="0"/>
              <a:t>3/1/2026</a:t>
            </a:fld>
            <a:endParaRPr lang="en-US" dirty="0"/>
          </a:p>
        </p:txBody>
      </p:sp>
      <p:sp>
        <p:nvSpPr>
          <p:cNvPr id="5" name="Footer Placeholder 4">
            <a:extLst>
              <a:ext uri="{FF2B5EF4-FFF2-40B4-BE49-F238E27FC236}">
                <a16:creationId xmlns:a16="http://schemas.microsoft.com/office/drawing/2014/main" id="{C90CF4DB-40CD-3611-D363-0891F448B4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890EDA0-86AA-860A-F588-35499823C0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069384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lightgbm.readthedocs.io/" TargetMode="External"/><Relationship Id="rId2" Type="http://schemas.openxmlformats.org/officeDocument/2006/relationships/hyperlink" Target="https://www.kaggle.com/datasets/kannanaikkal/food-demand-forecasting" TargetMode="External"/><Relationship Id="rId1" Type="http://schemas.openxmlformats.org/officeDocument/2006/relationships/slideLayout" Target="../slideLayouts/slideLayout2.xml"/><Relationship Id="rId6" Type="http://schemas.openxmlformats.org/officeDocument/2006/relationships/hyperlink" Target="https://docs.oracle.com/cd/E18727_01/doc.121/e05179/T493571T493575.htm" TargetMode="External"/><Relationship Id="rId5" Type="http://schemas.openxmlformats.org/officeDocument/2006/relationships/hyperlink" Target="https://blueyonder.com/solutions/supply-chain-planning/demand-planning" TargetMode="External"/><Relationship Id="rId4" Type="http://schemas.openxmlformats.org/officeDocument/2006/relationships/hyperlink" Target="https://arxiv.org/abs/1810.1136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EA04-C811-53B5-72D1-9FD00966A722}"/>
              </a:ext>
            </a:extLst>
          </p:cNvPr>
          <p:cNvSpPr>
            <a:spLocks noGrp="1"/>
          </p:cNvSpPr>
          <p:nvPr>
            <p:ph type="ctrTitle"/>
          </p:nvPr>
        </p:nvSpPr>
        <p:spPr>
          <a:xfrm>
            <a:off x="689964" y="2735307"/>
            <a:ext cx="11059584" cy="1042219"/>
          </a:xfrm>
        </p:spPr>
        <p:txBody>
          <a:bodyPr anchor="ctr">
            <a:normAutofit fontScale="90000"/>
          </a:bodyPr>
          <a:lstStyle/>
          <a:p>
            <a:r>
              <a:rPr lang="en-US" sz="2800" b="1" dirty="0">
                <a:latin typeface="Times New Roman" panose="02020603050405020304" pitchFamily="18" charset="0"/>
                <a:cs typeface="Times New Roman" panose="02020603050405020304" pitchFamily="18" charset="0"/>
              </a:rPr>
              <a:t>Time Series Forecasting and Modeling of Food Demand Supply Chain Using Regressor Analysis</a:t>
            </a:r>
            <a:br>
              <a:rPr lang="en-IN" dirty="0"/>
            </a:br>
            <a:endParaRPr lang="en-IN" sz="30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D61CC86-CA75-F135-B610-B7B91283CF60}"/>
              </a:ext>
            </a:extLst>
          </p:cNvPr>
          <p:cNvSpPr>
            <a:spLocks noGrp="1"/>
          </p:cNvSpPr>
          <p:nvPr>
            <p:ph type="subTitle" idx="1"/>
          </p:nvPr>
        </p:nvSpPr>
        <p:spPr>
          <a:xfrm>
            <a:off x="7167717" y="4168452"/>
            <a:ext cx="4581831" cy="1858948"/>
          </a:xfrm>
        </p:spPr>
        <p:txBody>
          <a:bodyPr>
            <a:noAutofit/>
          </a:bodyPr>
          <a:lstStyle/>
          <a:p>
            <a:pPr algn="just"/>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Presented By</a:t>
            </a:r>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l"/>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S.Durga – 23B81A05T0</a:t>
            </a:r>
          </a:p>
          <a:p>
            <a:pPr algn="l"/>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V.Navya Reddy – 23B81A05U8</a:t>
            </a:r>
          </a:p>
          <a:p>
            <a:pPr algn="l"/>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IN" sz="20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75660B-0830-E7BC-7315-CE4D769F9230}"/>
              </a:ext>
            </a:extLst>
          </p:cNvPr>
          <p:cNvSpPr txBox="1"/>
          <p:nvPr/>
        </p:nvSpPr>
        <p:spPr>
          <a:xfrm>
            <a:off x="1827611" y="289671"/>
            <a:ext cx="9441752" cy="2308324"/>
          </a:xfrm>
          <a:prstGeom prst="rect">
            <a:avLst/>
          </a:prstGeom>
          <a:noFill/>
        </p:spPr>
        <p:txBody>
          <a:bodyPr wrap="none" rtlCol="0">
            <a:spAutoFit/>
          </a:bodyPr>
          <a:lstStyle/>
          <a:p>
            <a:pPr algn="ctr"/>
            <a:r>
              <a:rPr lang="en-US" sz="2400" b="1" dirty="0">
                <a:latin typeface="CG omega"/>
                <a:cs typeface="Times New Roman" pitchFamily="18" charset="0"/>
              </a:rPr>
              <a:t>CVR COLLEGE OF ENGINEERING</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itchFamily="18" charset="0"/>
              </a:rPr>
              <a:t>(An UGC Autonomous Institute, Accredited by NAAC with ‘A’ Grade)</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itchFamily="18" charset="0"/>
              </a:rPr>
              <a:t>Department of CSE</a:t>
            </a:r>
            <a:br>
              <a:rPr lang="en-US" sz="2400" b="1" dirty="0">
                <a:latin typeface="Times New Roman" panose="02020603050405020304" pitchFamily="18" charset="0"/>
                <a:cs typeface="Times New Roman" pitchFamily="18" charset="0"/>
              </a:rPr>
            </a:br>
            <a:r>
              <a:rPr lang="en-US" sz="2400" b="1" dirty="0">
                <a:latin typeface="Times New Roman" panose="02020603050405020304" pitchFamily="18" charset="0"/>
                <a:cs typeface="Times New Roman" pitchFamily="18" charset="0"/>
              </a:rPr>
              <a:t>B. Tech </a:t>
            </a:r>
            <a:r>
              <a:rPr lang="en-IN" sz="2400" b="1" dirty="0">
                <a:latin typeface="Times New Roman" panose="02020603050405020304" pitchFamily="18" charset="0"/>
                <a:cs typeface="Times New Roman" pitchFamily="18" charset="0"/>
              </a:rPr>
              <a:t>CSE-E</a:t>
            </a:r>
            <a:r>
              <a:rPr lang="en-US" sz="2400" b="1" dirty="0">
                <a:latin typeface="Times New Roman" panose="02020603050405020304" pitchFamily="18" charset="0"/>
                <a:cs typeface="Times New Roman" pitchFamily="18" charset="0"/>
              </a:rPr>
              <a:t> III Year II Semester</a:t>
            </a:r>
          </a:p>
          <a:p>
            <a:pPr algn="ctr"/>
            <a:r>
              <a:rPr lang="en-IN" sz="2400" b="1" i="0" dirty="0">
                <a:effectLst/>
                <a:latin typeface="Times New Roman" panose="02020603050405020304" pitchFamily="18" charset="0"/>
                <a:cs typeface="Times New Roman" panose="02020603050405020304" pitchFamily="18" charset="0"/>
              </a:rPr>
              <a:t>Industrial Oriented </a:t>
            </a:r>
            <a:r>
              <a:rPr lang="en-IN" sz="2400" b="1" dirty="0">
                <a:latin typeface="Times New Roman" panose="02020603050405020304" pitchFamily="18" charset="0"/>
                <a:cs typeface="Times New Roman" panose="02020603050405020304" pitchFamily="18" charset="0"/>
              </a:rPr>
              <a:t>Mini</a:t>
            </a:r>
            <a:r>
              <a:rPr lang="en-IN" sz="2400" b="1" i="0" dirty="0">
                <a:effectLst/>
                <a:latin typeface="Times New Roman" panose="02020603050405020304" pitchFamily="18" charset="0"/>
                <a:cs typeface="Times New Roman" panose="02020603050405020304" pitchFamily="18" charset="0"/>
              </a:rPr>
              <a:t> Project</a:t>
            </a:r>
            <a:endParaRPr lang="en-US" sz="2400" b="1" dirty="0">
              <a:latin typeface="Times New Roman" panose="02020603050405020304" pitchFamily="18" charset="0"/>
              <a:cs typeface="Times New Roman" panose="02020603050405020304" pitchFamily="18" charset="0"/>
            </a:endParaRPr>
          </a:p>
          <a:p>
            <a:pPr algn="ctr"/>
            <a:r>
              <a:rPr lang="en-IN" sz="2400" dirty="0">
                <a:latin typeface="Times New Roman" panose="02020603050405020304" pitchFamily="18" charset="0"/>
                <a:cs typeface="Times New Roman" panose="02020603050405020304" pitchFamily="18" charset="0"/>
              </a:rPr>
              <a:t>Project Title:</a:t>
            </a:r>
          </a:p>
        </p:txBody>
      </p:sp>
      <p:pic>
        <p:nvPicPr>
          <p:cNvPr id="5" name="Picture 4">
            <a:extLst>
              <a:ext uri="{FF2B5EF4-FFF2-40B4-BE49-F238E27FC236}">
                <a16:creationId xmlns:a16="http://schemas.microsoft.com/office/drawing/2014/main" id="{5AC5781C-DADC-4274-F818-371BA091797D}"/>
              </a:ext>
            </a:extLst>
          </p:cNvPr>
          <p:cNvPicPr/>
          <p:nvPr/>
        </p:nvPicPr>
        <p:blipFill>
          <a:blip r:embed="rId3" cstate="print"/>
          <a:stretch>
            <a:fillRect/>
          </a:stretch>
        </p:blipFill>
        <p:spPr>
          <a:xfrm>
            <a:off x="470793" y="387886"/>
            <a:ext cx="1461393" cy="1531931"/>
          </a:xfrm>
          <a:prstGeom prst="rect">
            <a:avLst/>
          </a:prstGeom>
        </p:spPr>
      </p:pic>
      <p:sp>
        <p:nvSpPr>
          <p:cNvPr id="6" name="TextBox 5">
            <a:extLst>
              <a:ext uri="{FF2B5EF4-FFF2-40B4-BE49-F238E27FC236}">
                <a16:creationId xmlns:a16="http://schemas.microsoft.com/office/drawing/2014/main" id="{F29B4C4F-CF89-7D33-46E6-E2CFCE31A1E6}"/>
              </a:ext>
            </a:extLst>
          </p:cNvPr>
          <p:cNvSpPr txBox="1"/>
          <p:nvPr/>
        </p:nvSpPr>
        <p:spPr>
          <a:xfrm>
            <a:off x="837730" y="3934595"/>
            <a:ext cx="3991897" cy="1015663"/>
          </a:xfrm>
          <a:prstGeom prst="rect">
            <a:avLst/>
          </a:prstGeom>
          <a:noFill/>
        </p:spPr>
        <p:txBody>
          <a:bodyPr wrap="square" rtlCol="0">
            <a:spAutoFit/>
          </a:bodyPr>
          <a:lstStyle/>
          <a:p>
            <a:r>
              <a:rPr lang="en-IN" sz="2000" b="1" i="0" dirty="0">
                <a:effectLst/>
                <a:latin typeface="Times New Roman" panose="02020603050405020304" pitchFamily="18" charset="0"/>
                <a:cs typeface="Times New Roman" panose="02020603050405020304" pitchFamily="18" charset="0"/>
              </a:rPr>
              <a:t>PROJECT SUPERVISOR:</a:t>
            </a:r>
          </a:p>
          <a:p>
            <a:r>
              <a:rPr lang="en-IN" sz="2000" b="1" i="0" dirty="0">
                <a:effectLst/>
                <a:latin typeface="Times New Roman" panose="02020603050405020304" pitchFamily="18" charset="0"/>
                <a:cs typeface="Times New Roman" panose="02020603050405020304" pitchFamily="18" charset="0"/>
              </a:rPr>
              <a:t>Dr. K</a:t>
            </a:r>
            <a:r>
              <a:rPr lang="en-IN" sz="2000" b="1" dirty="0">
                <a:latin typeface="Times New Roman" panose="02020603050405020304" pitchFamily="18" charset="0"/>
                <a:cs typeface="Times New Roman" panose="02020603050405020304" pitchFamily="18" charset="0"/>
              </a:rPr>
              <a:t>.</a:t>
            </a:r>
            <a:r>
              <a:rPr lang="en-IN" sz="2000" b="1" i="0" dirty="0">
                <a:effectLst/>
                <a:latin typeface="Times New Roman" panose="02020603050405020304" pitchFamily="18" charset="0"/>
                <a:cs typeface="Times New Roman" panose="02020603050405020304" pitchFamily="18" charset="0"/>
              </a:rPr>
              <a:t> Venkatesh Sharma</a:t>
            </a:r>
          </a:p>
          <a:p>
            <a:r>
              <a:rPr lang="en-IN" sz="2000" b="1" i="0" dirty="0">
                <a:effectLst/>
                <a:latin typeface="Times New Roman" panose="02020603050405020304" pitchFamily="18" charset="0"/>
                <a:cs typeface="Times New Roman" panose="02020603050405020304" pitchFamily="18" charset="0"/>
              </a:rPr>
              <a:t>Professor</a:t>
            </a:r>
          </a:p>
        </p:txBody>
      </p:sp>
    </p:spTree>
    <p:extLst>
      <p:ext uri="{BB962C8B-B14F-4D97-AF65-F5344CB8AC3E}">
        <p14:creationId xmlns:p14="http://schemas.microsoft.com/office/powerpoint/2010/main" val="2880555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2ECF-BE19-A7EB-82F2-209BB76D8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D93EF-9483-2408-F86B-E2DFD6ACAF7D}"/>
              </a:ext>
            </a:extLst>
          </p:cNvPr>
          <p:cNvSpPr>
            <a:spLocks noGrp="1"/>
          </p:cNvSpPr>
          <p:nvPr>
            <p:ph type="title"/>
          </p:nvPr>
        </p:nvSpPr>
        <p:spPr>
          <a:xfrm>
            <a:off x="677333" y="496479"/>
            <a:ext cx="8596668" cy="785567"/>
          </a:xfrm>
        </p:spPr>
        <p:txBody>
          <a:bodyPr>
            <a:normAutofit/>
          </a:bodyPr>
          <a:lstStyle/>
          <a:p>
            <a:r>
              <a:rPr lang="en-US" sz="2800" b="1" dirty="0">
                <a:latin typeface="Times New Roman" panose="02020603050405020304" pitchFamily="18" charset="0"/>
                <a:cs typeface="Times New Roman" panose="02020603050405020304" pitchFamily="18" charset="0"/>
              </a:rPr>
              <a:t>Abstract</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BD4627F2-D98B-7140-F9B8-871E4D98DF95}"/>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68F8A6FF-0CE5-ED0E-AE6E-790B41A56921}"/>
              </a:ext>
            </a:extLst>
          </p:cNvPr>
          <p:cNvSpPr>
            <a:spLocks noGrp="1"/>
          </p:cNvSpPr>
          <p:nvPr>
            <p:ph type="sldNum" sz="quarter" idx="12"/>
          </p:nvPr>
        </p:nvSpPr>
        <p:spPr/>
        <p:txBody>
          <a:bodyPr/>
          <a:lstStyle/>
          <a:p>
            <a:fld id="{519954A3-9DFD-4C44-94BA-B95130A3BA1C}" type="slidenum">
              <a:rPr lang="en-US" sz="1600" b="1" smtClean="0"/>
              <a:t>2</a:t>
            </a:fld>
            <a:endParaRPr lang="en-US" sz="1600" b="1" dirty="0"/>
          </a:p>
        </p:txBody>
      </p:sp>
      <p:sp>
        <p:nvSpPr>
          <p:cNvPr id="7" name="Content Placeholder 6">
            <a:extLst>
              <a:ext uri="{FF2B5EF4-FFF2-40B4-BE49-F238E27FC236}">
                <a16:creationId xmlns:a16="http://schemas.microsoft.com/office/drawing/2014/main" id="{617DC28E-CE4A-98CB-080C-26F480E5931C}"/>
              </a:ext>
            </a:extLst>
          </p:cNvPr>
          <p:cNvSpPr>
            <a:spLocks noGrp="1"/>
          </p:cNvSpPr>
          <p:nvPr>
            <p:ph idx="1"/>
          </p:nvPr>
        </p:nvSpPr>
        <p:spPr>
          <a:xfrm>
            <a:off x="677333" y="1624177"/>
            <a:ext cx="10515600" cy="5242967"/>
          </a:xfrm>
        </p:spPr>
        <p:txBody>
          <a:bodyPr>
            <a:no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Accurate food demand forecasting is crucial for meal delivery services because food is perishable and small prediction errors can cause losses. Existing platforms like Blue Yonder, SAP Integrated Business Planning, Oracle Demantra, and Infor Demand Management mainly use traditional statistical methods. These often fail to capture complex demand patterns, leading to overstocking or </a:t>
            </a:r>
            <a:r>
              <a:rPr lang="en-US" sz="2000" dirty="0" err="1">
                <a:latin typeface="Times New Roman" panose="02020603050405020304" pitchFamily="18" charset="0"/>
                <a:cs typeface="Times New Roman" panose="02020603050405020304" pitchFamily="18" charset="0"/>
              </a:rPr>
              <a:t>shortages.This</a:t>
            </a:r>
            <a:r>
              <a:rPr lang="en-US" sz="2000" dirty="0">
                <a:latin typeface="Times New Roman" panose="02020603050405020304" pitchFamily="18" charset="0"/>
                <a:cs typeface="Times New Roman" panose="02020603050405020304" pitchFamily="18" charset="0"/>
              </a:rPr>
              <a:t> study proposes a time series–based forecasting approach using machine learning and deep learning models. The dataset from Genpact includes weekly orders, pricing, promotions, and meal categories. Lag features and moving averages are used to model temporal patterns effectively. Random Forest, </a:t>
            </a:r>
            <a:r>
              <a:rPr lang="en-US" sz="2000" dirty="0" err="1">
                <a:latin typeface="Times New Roman" panose="02020603050405020304" pitchFamily="18" charset="0"/>
                <a:cs typeface="Times New Roman" panose="02020603050405020304" pitchFamily="18" charset="0"/>
              </a:rPr>
              <a:t>CatBoost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regression models were evaluated for food demand forecasting. Based on validation metrics,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demonstrated superior accuracy and stability compared to the other models. This improved predictive performance contributes to better inventory planning and supply chain optimization.</a:t>
            </a:r>
          </a:p>
        </p:txBody>
      </p:sp>
    </p:spTree>
    <p:extLst>
      <p:ext uri="{BB962C8B-B14F-4D97-AF65-F5344CB8AC3E}">
        <p14:creationId xmlns:p14="http://schemas.microsoft.com/office/powerpoint/2010/main" val="355967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89471-3FE1-AE66-A786-279483C71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F088C-9883-E99D-102A-F89A25EEEE7F}"/>
              </a:ext>
            </a:extLst>
          </p:cNvPr>
          <p:cNvSpPr>
            <a:spLocks noGrp="1"/>
          </p:cNvSpPr>
          <p:nvPr>
            <p:ph type="title"/>
          </p:nvPr>
        </p:nvSpPr>
        <p:spPr>
          <a:xfrm>
            <a:off x="838200" y="238209"/>
            <a:ext cx="10515600" cy="1325563"/>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Introduction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A0CEE5-66F9-102F-1A6D-EBB6F0440C12}"/>
              </a:ext>
            </a:extLst>
          </p:cNvPr>
          <p:cNvSpPr>
            <a:spLocks noGrp="1"/>
          </p:cNvSpPr>
          <p:nvPr>
            <p:ph idx="1"/>
          </p:nvPr>
        </p:nvSpPr>
        <p:spPr/>
        <p:txBody>
          <a:bodyPr/>
          <a:lstStyle/>
          <a:p>
            <a:r>
              <a:rPr lang="en-US" sz="2100" dirty="0">
                <a:latin typeface="Times New Roman" panose="02020603050405020304" pitchFamily="18" charset="0"/>
                <a:cs typeface="Times New Roman" panose="02020603050405020304" pitchFamily="18" charset="0"/>
              </a:rPr>
              <a:t>Food demand forecasting is essential for efficient supply chain management in meal delivery services. Since food is perishable, inaccurate predictions can cause wastage, losses, and customer dissatisfaction. Traditional statistical models often fail to capture complex demand patterns.</a:t>
            </a:r>
          </a:p>
          <a:p>
            <a:r>
              <a:rPr lang="en-US" sz="2100" dirty="0">
                <a:latin typeface="Times New Roman" panose="02020603050405020304" pitchFamily="18" charset="0"/>
                <a:cs typeface="Times New Roman" panose="02020603050405020304" pitchFamily="18" charset="0"/>
              </a:rPr>
              <a:t>FoodDemandAI is a machine learning–based forecasting system designed to predict weekly meal demand accurately. It uses historical order data, pricing, promotional details, and fulfillment center information to analyze trends and patterns. Advanced feature engineering techniques such as lag features and moving averages are used to model temporal dependencies.</a:t>
            </a:r>
          </a:p>
          <a:p>
            <a:r>
              <a:rPr lang="en-US" sz="2100" dirty="0">
                <a:latin typeface="Times New Roman" panose="02020603050405020304" pitchFamily="18" charset="0"/>
                <a:cs typeface="Times New Roman" panose="02020603050405020304" pitchFamily="18" charset="0"/>
              </a:rPr>
              <a:t>The system compares models such as Random Forest, </a:t>
            </a:r>
            <a:r>
              <a:rPr lang="en-US" sz="2100" dirty="0" err="1">
                <a:latin typeface="Times New Roman" panose="02020603050405020304" pitchFamily="18" charset="0"/>
                <a:cs typeface="Times New Roman" panose="02020603050405020304" pitchFamily="18" charset="0"/>
              </a:rPr>
              <a:t>CatBoost</a:t>
            </a:r>
            <a:r>
              <a:rPr lang="en-US" sz="2100" dirty="0">
                <a:latin typeface="Times New Roman" panose="02020603050405020304" pitchFamily="18" charset="0"/>
                <a:cs typeface="Times New Roman" panose="02020603050405020304" pitchFamily="18" charset="0"/>
              </a:rPr>
              <a:t>, and </a:t>
            </a:r>
            <a:r>
              <a:rPr lang="en-US" sz="2100" dirty="0" err="1">
                <a:latin typeface="Times New Roman" panose="02020603050405020304" pitchFamily="18" charset="0"/>
                <a:cs typeface="Times New Roman" panose="02020603050405020304" pitchFamily="18" charset="0"/>
              </a:rPr>
              <a:t>LightGBM</a:t>
            </a:r>
            <a:r>
              <a:rPr lang="en-US" sz="2100" dirty="0">
                <a:latin typeface="Times New Roman" panose="02020603050405020304" pitchFamily="18" charset="0"/>
                <a:cs typeface="Times New Roman" panose="02020603050405020304" pitchFamily="18" charset="0"/>
              </a:rPr>
              <a:t>. Results show that </a:t>
            </a:r>
            <a:r>
              <a:rPr lang="en-US" sz="2100" dirty="0" err="1">
                <a:latin typeface="Times New Roman" panose="02020603050405020304" pitchFamily="18" charset="0"/>
                <a:cs typeface="Times New Roman" panose="02020603050405020304" pitchFamily="18" charset="0"/>
              </a:rPr>
              <a:t>LightGBM</a:t>
            </a:r>
            <a:r>
              <a:rPr lang="en-US" sz="2100" dirty="0">
                <a:latin typeface="Times New Roman" panose="02020603050405020304" pitchFamily="18" charset="0"/>
                <a:cs typeface="Times New Roman" panose="02020603050405020304" pitchFamily="18" charset="0"/>
              </a:rPr>
              <a:t> provides higher accuracy and stability, helping reduce wastage and improve supply chain decisions.</a:t>
            </a:r>
          </a:p>
        </p:txBody>
      </p:sp>
      <p:sp>
        <p:nvSpPr>
          <p:cNvPr id="4" name="Slide Number Placeholder 3">
            <a:extLst>
              <a:ext uri="{FF2B5EF4-FFF2-40B4-BE49-F238E27FC236}">
                <a16:creationId xmlns:a16="http://schemas.microsoft.com/office/drawing/2014/main" id="{D16CC1CD-E620-5CA1-22BC-4540135302F0}"/>
              </a:ext>
            </a:extLst>
          </p:cNvPr>
          <p:cNvSpPr>
            <a:spLocks noGrp="1"/>
          </p:cNvSpPr>
          <p:nvPr>
            <p:ph type="sldNum" sz="quarter" idx="12"/>
          </p:nvPr>
        </p:nvSpPr>
        <p:spPr/>
        <p:txBody>
          <a:bodyPr/>
          <a:lstStyle/>
          <a:p>
            <a:fld id="{519954A3-9DFD-4C44-94BA-B95130A3BA1C}" type="slidenum">
              <a:rPr lang="en-US" sz="1600" b="1" smtClean="0"/>
              <a:t>3</a:t>
            </a:fld>
            <a:endParaRPr lang="en-US" sz="1600" b="1" dirty="0"/>
          </a:p>
        </p:txBody>
      </p:sp>
      <p:cxnSp>
        <p:nvCxnSpPr>
          <p:cNvPr id="5" name="Straight Connector 4">
            <a:extLst>
              <a:ext uri="{FF2B5EF4-FFF2-40B4-BE49-F238E27FC236}">
                <a16:creationId xmlns:a16="http://schemas.microsoft.com/office/drawing/2014/main" id="{B5825C87-4C0D-6B40-AA1F-054C6B8ABBDD}"/>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13" name="Content Placeholder 2">
            <a:extLst>
              <a:ext uri="{FF2B5EF4-FFF2-40B4-BE49-F238E27FC236}">
                <a16:creationId xmlns:a16="http://schemas.microsoft.com/office/drawing/2014/main" id="{41F0C5B7-FD77-9227-978A-3BB52F42678D}"/>
              </a:ext>
            </a:extLst>
          </p:cNvPr>
          <p:cNvSpPr txBox="1">
            <a:spLocks/>
          </p:cNvSpPr>
          <p:nvPr/>
        </p:nvSpPr>
        <p:spPr>
          <a:xfrm>
            <a:off x="598093" y="3074323"/>
            <a:ext cx="11294023" cy="17494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GB" sz="2400" dirty="0">
              <a:latin typeface="Times New Roman" panose="02020603050405020304" pitchFamily="18" charset="0"/>
              <a:cs typeface="Times New Roman" panose="02020603050405020304" pitchFamily="18" charset="0"/>
            </a:endParaRPr>
          </a:p>
          <a:p>
            <a:pPr algn="just"/>
            <a:endParaRPr lang="en-GB" sz="2400" dirty="0">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C88CC0BE-9BD1-ED1A-A777-0073EBD255AC}"/>
              </a:ext>
            </a:extLst>
          </p:cNvPr>
          <p:cNvSpPr txBox="1">
            <a:spLocks/>
          </p:cNvSpPr>
          <p:nvPr/>
        </p:nvSpPr>
        <p:spPr>
          <a:xfrm>
            <a:off x="671833" y="4823814"/>
            <a:ext cx="11294023" cy="17494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GB" sz="2400" dirty="0">
              <a:latin typeface="Times New Roman" panose="02020603050405020304" pitchFamily="18" charset="0"/>
              <a:cs typeface="Times New Roman" panose="02020603050405020304" pitchFamily="18" charset="0"/>
            </a:endParaRPr>
          </a:p>
          <a:p>
            <a:pPr algn="just"/>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026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4FE8-7930-BABD-A226-CCA3F4E9E4AB}"/>
              </a:ext>
            </a:extLst>
          </p:cNvPr>
          <p:cNvSpPr>
            <a:spLocks noGrp="1"/>
          </p:cNvSpPr>
          <p:nvPr>
            <p:ph type="title"/>
          </p:nvPr>
        </p:nvSpPr>
        <p:spPr>
          <a:xfrm>
            <a:off x="279400" y="151765"/>
            <a:ext cx="3500120" cy="528955"/>
          </a:xfrm>
        </p:spPr>
        <p:txBody>
          <a:bodyPr>
            <a:normAutofit/>
          </a:bodyPr>
          <a:lstStyle/>
          <a:p>
            <a:r>
              <a:rPr lang="en-IN" sz="2800" b="1" dirty="0">
                <a:latin typeface="Times New Roman" panose="02020603050405020304" pitchFamily="18" charset="0"/>
                <a:cs typeface="Times New Roman" panose="02020603050405020304" pitchFamily="18" charset="0"/>
              </a:rPr>
              <a:t>Literature Review:</a:t>
            </a:r>
            <a:endParaRPr lang="en-IN" sz="2800" b="1" dirty="0"/>
          </a:p>
        </p:txBody>
      </p:sp>
      <p:sp>
        <p:nvSpPr>
          <p:cNvPr id="3" name="Slide Number Placeholder 2">
            <a:extLst>
              <a:ext uri="{FF2B5EF4-FFF2-40B4-BE49-F238E27FC236}">
                <a16:creationId xmlns:a16="http://schemas.microsoft.com/office/drawing/2014/main" id="{A8A8B812-BCF6-989E-2655-1C573C1D3731}"/>
              </a:ext>
            </a:extLst>
          </p:cNvPr>
          <p:cNvSpPr>
            <a:spLocks noGrp="1"/>
          </p:cNvSpPr>
          <p:nvPr>
            <p:ph type="sldNum" sz="quarter" idx="12"/>
          </p:nvPr>
        </p:nvSpPr>
        <p:spPr>
          <a:xfrm>
            <a:off x="9067800" y="6492875"/>
            <a:ext cx="2743200" cy="365125"/>
          </a:xfrm>
        </p:spPr>
        <p:txBody>
          <a:bodyPr/>
          <a:lstStyle/>
          <a:p>
            <a:fld id="{D57F1E4F-1CFF-5643-939E-217C01CDF565}" type="slidenum">
              <a:rPr lang="en-US" smtClean="0"/>
              <a:pPr/>
              <a:t>4</a:t>
            </a:fld>
            <a:endParaRPr lang="en-US" dirty="0"/>
          </a:p>
        </p:txBody>
      </p:sp>
      <p:graphicFrame>
        <p:nvGraphicFramePr>
          <p:cNvPr id="5" name="Table 4">
            <a:extLst>
              <a:ext uri="{FF2B5EF4-FFF2-40B4-BE49-F238E27FC236}">
                <a16:creationId xmlns:a16="http://schemas.microsoft.com/office/drawing/2014/main" id="{C8D9A652-151C-CCA2-7863-7BA661D5A3B6}"/>
              </a:ext>
            </a:extLst>
          </p:cNvPr>
          <p:cNvGraphicFramePr>
            <a:graphicFrameLocks noGrp="1"/>
          </p:cNvGraphicFramePr>
          <p:nvPr>
            <p:extLst>
              <p:ext uri="{D42A27DB-BD31-4B8C-83A1-F6EECF244321}">
                <p14:modId xmlns:p14="http://schemas.microsoft.com/office/powerpoint/2010/main" val="1922585434"/>
              </p:ext>
            </p:extLst>
          </p:nvPr>
        </p:nvGraphicFramePr>
        <p:xfrm>
          <a:off x="381000" y="680720"/>
          <a:ext cx="11531600" cy="5832755"/>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1950861865"/>
                    </a:ext>
                  </a:extLst>
                </a:gridCol>
                <a:gridCol w="2357120">
                  <a:extLst>
                    <a:ext uri="{9D8B030D-6E8A-4147-A177-3AD203B41FA5}">
                      <a16:colId xmlns:a16="http://schemas.microsoft.com/office/drawing/2014/main" val="88699446"/>
                    </a:ext>
                  </a:extLst>
                </a:gridCol>
                <a:gridCol w="2936240">
                  <a:extLst>
                    <a:ext uri="{9D8B030D-6E8A-4147-A177-3AD203B41FA5}">
                      <a16:colId xmlns:a16="http://schemas.microsoft.com/office/drawing/2014/main" val="2958438234"/>
                    </a:ext>
                  </a:extLst>
                </a:gridCol>
                <a:gridCol w="3063240">
                  <a:extLst>
                    <a:ext uri="{9D8B030D-6E8A-4147-A177-3AD203B41FA5}">
                      <a16:colId xmlns:a16="http://schemas.microsoft.com/office/drawing/2014/main" val="57844494"/>
                    </a:ext>
                  </a:extLst>
                </a:gridCol>
                <a:gridCol w="2306320">
                  <a:extLst>
                    <a:ext uri="{9D8B030D-6E8A-4147-A177-3AD203B41FA5}">
                      <a16:colId xmlns:a16="http://schemas.microsoft.com/office/drawing/2014/main" val="729591497"/>
                    </a:ext>
                  </a:extLst>
                </a:gridCol>
              </a:tblGrid>
              <a:tr h="325120">
                <a:tc>
                  <a:txBody>
                    <a:bodyPr/>
                    <a:lstStyle/>
                    <a:p>
                      <a:r>
                        <a:rPr lang="en-IN" dirty="0"/>
                        <a:t> S.No     </a:t>
                      </a:r>
                    </a:p>
                  </a:txBody>
                  <a:tcPr/>
                </a:tc>
                <a:tc>
                  <a:txBody>
                    <a:bodyPr/>
                    <a:lstStyle/>
                    <a:p>
                      <a:r>
                        <a:rPr lang="en-IN" dirty="0"/>
                        <a:t>     Existing System</a:t>
                      </a:r>
                    </a:p>
                  </a:txBody>
                  <a:tcPr/>
                </a:tc>
                <a:tc>
                  <a:txBody>
                    <a:bodyPr/>
                    <a:lstStyle/>
                    <a:p>
                      <a:r>
                        <a:rPr lang="en-IN" dirty="0"/>
                        <a:t>     Description</a:t>
                      </a:r>
                    </a:p>
                  </a:txBody>
                  <a:tcPr/>
                </a:tc>
                <a:tc>
                  <a:txBody>
                    <a:bodyPr/>
                    <a:lstStyle/>
                    <a:p>
                      <a:r>
                        <a:rPr lang="en-IN" dirty="0"/>
                        <a:t>    Key Features </a:t>
                      </a:r>
                    </a:p>
                  </a:txBody>
                  <a:tcPr/>
                </a:tc>
                <a:tc>
                  <a:txBody>
                    <a:bodyPr/>
                    <a:lstStyle/>
                    <a:p>
                      <a:r>
                        <a:rPr lang="en-IN" dirty="0"/>
                        <a:t>     Limitations</a:t>
                      </a:r>
                    </a:p>
                  </a:txBody>
                  <a:tcPr/>
                </a:tc>
                <a:extLst>
                  <a:ext uri="{0D108BD9-81ED-4DB2-BD59-A6C34878D82A}">
                    <a16:rowId xmlns:a16="http://schemas.microsoft.com/office/drawing/2014/main" val="1791365067"/>
                  </a:ext>
                </a:extLst>
              </a:tr>
              <a:tr h="1065711">
                <a:tc>
                  <a:txBody>
                    <a:bodyPr/>
                    <a:lstStyle/>
                    <a:p>
                      <a:r>
                        <a:rPr lang="en-IN" dirty="0"/>
                        <a:t> </a:t>
                      </a:r>
                    </a:p>
                    <a:p>
                      <a:r>
                        <a:rPr lang="en-IN" dirty="0"/>
                        <a:t>        1</a:t>
                      </a:r>
                    </a:p>
                  </a:txBody>
                  <a:tcPr/>
                </a:tc>
                <a:tc>
                  <a:txBody>
                    <a:bodyPr/>
                    <a:lstStyle/>
                    <a:p>
                      <a:pPr>
                        <a:buNone/>
                      </a:pPr>
                      <a:r>
                        <a:rPr lang="en-IN" dirty="0"/>
                        <a:t>     Blue Yonder</a:t>
                      </a:r>
                    </a:p>
                  </a:txBody>
                  <a:tcPr anchor="ctr"/>
                </a:tc>
                <a:tc>
                  <a:txBody>
                    <a:bodyPr/>
                    <a:lstStyle/>
                    <a:p>
                      <a:r>
                        <a:rPr lang="en-US" dirty="0"/>
                        <a:t>AI-based supply chain and demand forecasting platform</a:t>
                      </a:r>
                      <a:endParaRPr lang="en-IN" dirty="0"/>
                    </a:p>
                  </a:txBody>
                  <a:tcPr/>
                </a:tc>
                <a:tc>
                  <a:txBody>
                    <a:bodyPr/>
                    <a:lstStyle/>
                    <a:p>
                      <a:r>
                        <a:rPr lang="en-US" dirty="0"/>
                        <a:t>Demand planning, inventory optimization, AI-driven analytics</a:t>
                      </a:r>
                      <a:endParaRPr lang="en-IN" dirty="0"/>
                    </a:p>
                  </a:txBody>
                  <a:tcPr/>
                </a:tc>
                <a:tc>
                  <a:txBody>
                    <a:bodyPr/>
                    <a:lstStyle/>
                    <a:p>
                      <a:r>
                        <a:rPr lang="en-US" dirty="0"/>
                        <a:t>Expensive, complex implementation, limited customization for small businesses</a:t>
                      </a:r>
                      <a:endParaRPr lang="en-IN" dirty="0"/>
                    </a:p>
                  </a:txBody>
                  <a:tcPr/>
                </a:tc>
                <a:extLst>
                  <a:ext uri="{0D108BD9-81ED-4DB2-BD59-A6C34878D82A}">
                    <a16:rowId xmlns:a16="http://schemas.microsoft.com/office/drawing/2014/main" val="1305236"/>
                  </a:ext>
                </a:extLst>
              </a:tr>
              <a:tr h="958132">
                <a:tc>
                  <a:txBody>
                    <a:bodyPr/>
                    <a:lstStyle/>
                    <a:p>
                      <a:endParaRPr lang="en-IN" dirty="0"/>
                    </a:p>
                    <a:p>
                      <a:r>
                        <a:rPr lang="en-IN" dirty="0"/>
                        <a:t>        2</a:t>
                      </a:r>
                    </a:p>
                  </a:txBody>
                  <a:tcPr/>
                </a:tc>
                <a:tc>
                  <a:txBody>
                    <a:bodyPr/>
                    <a:lstStyle/>
                    <a:p>
                      <a:endParaRPr lang="en-IN" dirty="0"/>
                    </a:p>
                    <a:p>
                      <a:r>
                        <a:rPr lang="en-IN" dirty="0"/>
                        <a:t>      SAP IBP</a:t>
                      </a:r>
                    </a:p>
                  </a:txBody>
                  <a:tcPr/>
                </a:tc>
                <a:tc>
                  <a:txBody>
                    <a:bodyPr/>
                    <a:lstStyle/>
                    <a:p>
                      <a:r>
                        <a:rPr lang="en-US" dirty="0"/>
                        <a:t>Cloud-based integrated business planning solution</a:t>
                      </a:r>
                      <a:endParaRPr lang="en-IN" dirty="0"/>
                    </a:p>
                  </a:txBody>
                  <a:tcPr/>
                </a:tc>
                <a:tc>
                  <a:txBody>
                    <a:bodyPr/>
                    <a:lstStyle/>
                    <a:p>
                      <a:r>
                        <a:rPr lang="en-US" dirty="0"/>
                        <a:t>Real-time forecasting, scenario planning, supply chain integration</a:t>
                      </a:r>
                      <a:endParaRPr lang="en-IN" dirty="0"/>
                    </a:p>
                  </a:txBody>
                  <a:tcPr/>
                </a:tc>
                <a:tc>
                  <a:txBody>
                    <a:bodyPr/>
                    <a:lstStyle/>
                    <a:p>
                      <a:r>
                        <a:rPr lang="en-US" dirty="0"/>
                        <a:t>High cost, requires technical expertise, complex setup</a:t>
                      </a:r>
                      <a:endParaRPr lang="en-IN" dirty="0"/>
                    </a:p>
                  </a:txBody>
                  <a:tcPr/>
                </a:tc>
                <a:extLst>
                  <a:ext uri="{0D108BD9-81ED-4DB2-BD59-A6C34878D82A}">
                    <a16:rowId xmlns:a16="http://schemas.microsoft.com/office/drawing/2014/main" val="3429411506"/>
                  </a:ext>
                </a:extLst>
              </a:tr>
              <a:tr h="1065711">
                <a:tc>
                  <a:txBody>
                    <a:bodyPr/>
                    <a:lstStyle/>
                    <a:p>
                      <a:endParaRPr lang="en-IN" dirty="0"/>
                    </a:p>
                    <a:p>
                      <a:r>
                        <a:rPr lang="en-IN" dirty="0"/>
                        <a:t>        3</a:t>
                      </a:r>
                    </a:p>
                  </a:txBody>
                  <a:tcPr/>
                </a:tc>
                <a:tc>
                  <a:txBody>
                    <a:bodyPr/>
                    <a:lstStyle/>
                    <a:p>
                      <a:r>
                        <a:rPr lang="en-IN" dirty="0"/>
                        <a:t>     </a:t>
                      </a:r>
                    </a:p>
                    <a:p>
                      <a:r>
                        <a:rPr lang="en-IN" dirty="0"/>
                        <a:t>     Oracle Demantra</a:t>
                      </a:r>
                    </a:p>
                  </a:txBody>
                  <a:tcPr/>
                </a:tc>
                <a:tc>
                  <a:txBody>
                    <a:bodyPr/>
                    <a:lstStyle/>
                    <a:p>
                      <a:r>
                        <a:rPr lang="en-US" dirty="0"/>
                        <a:t>Demand management and advanced forecasting tool</a:t>
                      </a:r>
                      <a:endParaRPr lang="en-IN" dirty="0"/>
                    </a:p>
                  </a:txBody>
                  <a:tcPr/>
                </a:tc>
                <a:tc>
                  <a:txBody>
                    <a:bodyPr/>
                    <a:lstStyle/>
                    <a:p>
                      <a:r>
                        <a:rPr lang="en-US" dirty="0"/>
                        <a:t>Statistical forecasting models, demand sensing, automated planning</a:t>
                      </a:r>
                      <a:endParaRPr lang="en-IN" dirty="0"/>
                    </a:p>
                  </a:txBody>
                  <a:tcPr/>
                </a:tc>
                <a:tc>
                  <a:txBody>
                    <a:bodyPr/>
                    <a:lstStyle/>
                    <a:p>
                      <a:r>
                        <a:rPr lang="en-US" dirty="0"/>
                        <a:t>Relies heavily on traditional models, less focus on deep learning</a:t>
                      </a:r>
                      <a:endParaRPr lang="en-IN" dirty="0"/>
                    </a:p>
                  </a:txBody>
                  <a:tcPr/>
                </a:tc>
                <a:extLst>
                  <a:ext uri="{0D108BD9-81ED-4DB2-BD59-A6C34878D82A}">
                    <a16:rowId xmlns:a16="http://schemas.microsoft.com/office/drawing/2014/main" val="1017558330"/>
                  </a:ext>
                </a:extLst>
              </a:tr>
              <a:tr h="819778">
                <a:tc>
                  <a:txBody>
                    <a:bodyPr/>
                    <a:lstStyle/>
                    <a:p>
                      <a:endParaRPr lang="en-IN" dirty="0"/>
                    </a:p>
                    <a:p>
                      <a:r>
                        <a:rPr lang="en-IN" dirty="0"/>
                        <a:t>        4</a:t>
                      </a:r>
                    </a:p>
                  </a:txBody>
                  <a:tcPr/>
                </a:tc>
                <a:tc>
                  <a:txBody>
                    <a:bodyPr/>
                    <a:lstStyle/>
                    <a:p>
                      <a:r>
                        <a:rPr lang="en-IN" dirty="0"/>
                        <a:t>     Infor Demand      </a:t>
                      </a:r>
                    </a:p>
                    <a:p>
                      <a:r>
                        <a:rPr lang="en-IN" dirty="0"/>
                        <a:t>     Management</a:t>
                      </a:r>
                    </a:p>
                  </a:txBody>
                  <a:tcPr/>
                </a:tc>
                <a:tc>
                  <a:txBody>
                    <a:bodyPr/>
                    <a:lstStyle/>
                    <a:p>
                      <a:r>
                        <a:rPr lang="en-US" dirty="0"/>
                        <a:t>Predictive analytics platform for supply chain planning</a:t>
                      </a:r>
                      <a:endParaRPr lang="en-IN" dirty="0"/>
                    </a:p>
                  </a:txBody>
                  <a:tcPr/>
                </a:tc>
                <a:tc>
                  <a:txBody>
                    <a:bodyPr/>
                    <a:lstStyle/>
                    <a:p>
                      <a:r>
                        <a:rPr lang="en-US" dirty="0"/>
                        <a:t>Machine learning forecasting, demand collaboration tools</a:t>
                      </a:r>
                      <a:endParaRPr lang="en-IN" dirty="0"/>
                    </a:p>
                  </a:txBody>
                  <a:tcPr/>
                </a:tc>
                <a:tc>
                  <a:txBody>
                    <a:bodyPr/>
                    <a:lstStyle/>
                    <a:p>
                      <a:r>
                        <a:rPr lang="en-US" dirty="0"/>
                        <a:t>Limited flexibility, subscription cost high</a:t>
                      </a:r>
                      <a:endParaRPr lang="en-IN" dirty="0"/>
                    </a:p>
                  </a:txBody>
                  <a:tcPr/>
                </a:tc>
                <a:extLst>
                  <a:ext uri="{0D108BD9-81ED-4DB2-BD59-A6C34878D82A}">
                    <a16:rowId xmlns:a16="http://schemas.microsoft.com/office/drawing/2014/main" val="4092778365"/>
                  </a:ext>
                </a:extLst>
              </a:tr>
              <a:tr h="1311645">
                <a:tc>
                  <a:txBody>
                    <a:bodyPr/>
                    <a:lstStyle/>
                    <a:p>
                      <a:endParaRPr lang="en-IN" dirty="0"/>
                    </a:p>
                    <a:p>
                      <a:r>
                        <a:rPr lang="en-IN" dirty="0"/>
                        <a:t>        5</a:t>
                      </a:r>
                    </a:p>
                  </a:txBody>
                  <a:tcPr/>
                </a:tc>
                <a:tc>
                  <a:txBody>
                    <a:bodyPr/>
                    <a:lstStyle/>
                    <a:p>
                      <a:r>
                        <a:rPr lang="en-US" dirty="0"/>
                        <a:t>    Traditional Statistical </a:t>
                      </a:r>
                    </a:p>
                    <a:p>
                      <a:r>
                        <a:rPr lang="en-US" dirty="0"/>
                        <a:t>    Models (ARIMA, MA)</a:t>
                      </a:r>
                      <a:endParaRPr lang="en-IN" dirty="0"/>
                    </a:p>
                  </a:txBody>
                  <a:tcPr/>
                </a:tc>
                <a:tc>
                  <a:txBody>
                    <a:bodyPr/>
                    <a:lstStyle/>
                    <a:p>
                      <a:r>
                        <a:rPr lang="en-US" dirty="0"/>
                        <a:t>Time series forecasting using historical data patterns</a:t>
                      </a:r>
                      <a:endParaRPr lang="en-IN" dirty="0"/>
                    </a:p>
                  </a:txBody>
                  <a:tcPr/>
                </a:tc>
                <a:tc>
                  <a:txBody>
                    <a:bodyPr/>
                    <a:lstStyle/>
                    <a:p>
                      <a:r>
                        <a:rPr lang="en-IN" dirty="0"/>
                        <a:t>Simple implementation, interpretable results</a:t>
                      </a:r>
                    </a:p>
                  </a:txBody>
                  <a:tcPr/>
                </a:tc>
                <a:tc>
                  <a:txBody>
                    <a:bodyPr/>
                    <a:lstStyle/>
                    <a:p>
                      <a:r>
                        <a:rPr lang="en-US" dirty="0"/>
                        <a:t>Cannot capture complex nonlinear patterns, lower accuracy</a:t>
                      </a:r>
                      <a:endParaRPr lang="en-IN" dirty="0"/>
                    </a:p>
                  </a:txBody>
                  <a:tcPr/>
                </a:tc>
                <a:extLst>
                  <a:ext uri="{0D108BD9-81ED-4DB2-BD59-A6C34878D82A}">
                    <a16:rowId xmlns:a16="http://schemas.microsoft.com/office/drawing/2014/main" val="1077240594"/>
                  </a:ext>
                </a:extLst>
              </a:tr>
            </a:tbl>
          </a:graphicData>
        </a:graphic>
      </p:graphicFrame>
    </p:spTree>
    <p:extLst>
      <p:ext uri="{BB962C8B-B14F-4D97-AF65-F5344CB8AC3E}">
        <p14:creationId xmlns:p14="http://schemas.microsoft.com/office/powerpoint/2010/main" val="423792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34AB-814A-5132-319E-D2FF65F772B5}"/>
              </a:ext>
            </a:extLst>
          </p:cNvPr>
          <p:cNvSpPr>
            <a:spLocks noGrp="1"/>
          </p:cNvSpPr>
          <p:nvPr>
            <p:ph type="title"/>
          </p:nvPr>
        </p:nvSpPr>
        <p:spPr>
          <a:xfrm>
            <a:off x="838200" y="136525"/>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Objectives</a:t>
            </a:r>
            <a:endParaRPr lang="en-IN" sz="28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6B88C20-0CC4-1885-18E5-FB6B23AF55F1}"/>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5" name="TextBox 4">
            <a:extLst>
              <a:ext uri="{FF2B5EF4-FFF2-40B4-BE49-F238E27FC236}">
                <a16:creationId xmlns:a16="http://schemas.microsoft.com/office/drawing/2014/main" id="{3904FF61-2EAF-A4D7-ED8B-BC1D8D11EE60}"/>
              </a:ext>
            </a:extLst>
          </p:cNvPr>
          <p:cNvSpPr txBox="1"/>
          <p:nvPr/>
        </p:nvSpPr>
        <p:spPr>
          <a:xfrm>
            <a:off x="838200" y="1376047"/>
            <a:ext cx="7299960" cy="419031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Accurate Demand Prediction</a:t>
            </a:r>
            <a:endParaRPr lang="en-US" sz="2000" dirty="0"/>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Reduction of Food Wastage</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Prevention of Stockouts</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Inventory Optimization</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Cost Reduction &amp; Profit Maximization</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Data-Driven Decision Making</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Seasonality &amp; Trend Analysis</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Scalable and Automated Forecasting System</a:t>
            </a:r>
          </a:p>
          <a:p>
            <a:pPr marL="342900" indent="-342900" algn="l">
              <a:lnSpc>
                <a:spcPct val="150000"/>
              </a:lnSpc>
              <a:buFont typeface="Arial" panose="020B0604020202020204" pitchFamily="34" charset="0"/>
              <a:buChar char="•"/>
            </a:pPr>
            <a:r>
              <a:rPr lang="en-US" sz="2000" b="0" i="0" dirty="0">
                <a:solidFill>
                  <a:srgbClr val="222222"/>
                </a:solidFill>
                <a:effectLst/>
                <a:latin typeface="Arial" panose="020B0604020202020204" pitchFamily="34" charset="0"/>
              </a:rPr>
              <a:t>Continuous Model Improvement Using Machine Learning</a:t>
            </a:r>
          </a:p>
        </p:txBody>
      </p:sp>
      <p:cxnSp>
        <p:nvCxnSpPr>
          <p:cNvPr id="7" name="Straight Connector 6">
            <a:extLst>
              <a:ext uri="{FF2B5EF4-FFF2-40B4-BE49-F238E27FC236}">
                <a16:creationId xmlns:a16="http://schemas.microsoft.com/office/drawing/2014/main" id="{D767E2BB-6098-196F-1629-467CB2FB60AB}"/>
              </a:ext>
            </a:extLst>
          </p:cNvPr>
          <p:cNvCxnSpPr/>
          <p:nvPr/>
        </p:nvCxnSpPr>
        <p:spPr>
          <a:xfrm flipV="1">
            <a:off x="722376" y="1097280"/>
            <a:ext cx="10524744" cy="73152"/>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76365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133F2-D6F5-19EE-D29D-56D751AA3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0BFF2-9116-CF77-8245-6DD44A1C78BF}"/>
              </a:ext>
            </a:extLst>
          </p:cNvPr>
          <p:cNvSpPr>
            <a:spLocks noGrp="1"/>
          </p:cNvSpPr>
          <p:nvPr>
            <p:ph type="title"/>
          </p:nvPr>
        </p:nvSpPr>
        <p:spPr>
          <a:xfrm>
            <a:off x="612018" y="490621"/>
            <a:ext cx="8596668" cy="785567"/>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Existing Systems</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509ED940-6386-A95D-2F01-FD1395AD8C67}"/>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31710C97-A04A-0103-1B2B-2BD19C5CA80F}"/>
              </a:ext>
            </a:extLst>
          </p:cNvPr>
          <p:cNvSpPr>
            <a:spLocks noGrp="1"/>
          </p:cNvSpPr>
          <p:nvPr>
            <p:ph type="sldNum" sz="quarter" idx="12"/>
          </p:nvPr>
        </p:nvSpPr>
        <p:spPr/>
        <p:txBody>
          <a:bodyPr/>
          <a:lstStyle/>
          <a:p>
            <a:fld id="{519954A3-9DFD-4C44-94BA-B95130A3BA1C}" type="slidenum">
              <a:rPr lang="en-US" sz="1600" b="1" smtClean="0"/>
              <a:t>6</a:t>
            </a:fld>
            <a:endParaRPr lang="en-US" sz="1600" b="1" dirty="0"/>
          </a:p>
        </p:txBody>
      </p:sp>
      <p:sp>
        <p:nvSpPr>
          <p:cNvPr id="7" name="Content Placeholder 6">
            <a:extLst>
              <a:ext uri="{FF2B5EF4-FFF2-40B4-BE49-F238E27FC236}">
                <a16:creationId xmlns:a16="http://schemas.microsoft.com/office/drawing/2014/main" id="{585A2B40-AD3E-6B60-1BB2-17B9AD098887}"/>
              </a:ext>
            </a:extLst>
          </p:cNvPr>
          <p:cNvSpPr>
            <a:spLocks noGrp="1"/>
          </p:cNvSpPr>
          <p:nvPr>
            <p:ph idx="1"/>
          </p:nvPr>
        </p:nvSpPr>
        <p:spPr>
          <a:xfrm>
            <a:off x="612018" y="1619513"/>
            <a:ext cx="11285341" cy="4547607"/>
          </a:xfrm>
        </p:spPr>
        <p:txBody>
          <a:bodyPr>
            <a:normAutofit fontScale="77500" lnSpcReduction="20000"/>
          </a:bodyPr>
          <a:lstStyle/>
          <a:p>
            <a:pPr marL="0" indent="0">
              <a:buNone/>
            </a:pPr>
            <a:r>
              <a:rPr lang="en-US" sz="2700" b="1" dirty="0">
                <a:latin typeface="Times New Roman" panose="02020603050405020304" pitchFamily="18" charset="0"/>
                <a:cs typeface="Times New Roman" panose="02020603050405020304" pitchFamily="18" charset="0"/>
              </a:rPr>
              <a:t>Blue Yonder:</a:t>
            </a:r>
          </a:p>
          <a:p>
            <a:r>
              <a:rPr lang="en-US" sz="2600" dirty="0">
                <a:latin typeface="Times New Roman" panose="02020603050405020304" pitchFamily="18" charset="0"/>
                <a:cs typeface="Times New Roman" panose="02020603050405020304" pitchFamily="18" charset="0"/>
              </a:rPr>
              <a:t>AI-driven supply chain and demand forecasting platform used by large enterprises.</a:t>
            </a:r>
          </a:p>
          <a:p>
            <a:r>
              <a:rPr lang="en-US" sz="2600" dirty="0">
                <a:latin typeface="Times New Roman" panose="02020603050405020304" pitchFamily="18" charset="0"/>
                <a:cs typeface="Times New Roman" panose="02020603050405020304" pitchFamily="18" charset="0"/>
              </a:rPr>
              <a:t>Provides advanced analytics, inventory optimization, and automated planning.</a:t>
            </a:r>
          </a:p>
          <a:p>
            <a:r>
              <a:rPr lang="en-US" sz="2600" dirty="0">
                <a:latin typeface="Times New Roman" panose="02020603050405020304" pitchFamily="18" charset="0"/>
                <a:cs typeface="Times New Roman" panose="02020603050405020304" pitchFamily="18" charset="0"/>
              </a:rPr>
              <a:t>Very expensive and complex to implement for small and medium businesses.</a:t>
            </a:r>
          </a:p>
          <a:p>
            <a:r>
              <a:rPr lang="en-US" sz="2600" dirty="0">
                <a:latin typeface="Times New Roman" panose="02020603050405020304" pitchFamily="18" charset="0"/>
                <a:cs typeface="Times New Roman" panose="02020603050405020304" pitchFamily="18" charset="0"/>
              </a:rPr>
              <a:t>Requires high infrastructure and skilled professionals for maintenance.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700" b="1" dirty="0">
                <a:latin typeface="Times New Roman" panose="02020603050405020304" pitchFamily="18" charset="0"/>
                <a:cs typeface="Times New Roman" panose="02020603050405020304" pitchFamily="18" charset="0"/>
              </a:rPr>
              <a:t>SAP IBP:</a:t>
            </a:r>
          </a:p>
          <a:p>
            <a:r>
              <a:rPr lang="en-US" sz="2600" dirty="0">
                <a:latin typeface="Times New Roman" panose="02020603050405020304" pitchFamily="18" charset="0"/>
                <a:cs typeface="Times New Roman" panose="02020603050405020304" pitchFamily="18" charset="0"/>
              </a:rPr>
              <a:t>Cloud-based integrated business planning solution for supply chains.</a:t>
            </a:r>
          </a:p>
          <a:p>
            <a:r>
              <a:rPr lang="en-US" sz="2600" dirty="0">
                <a:latin typeface="Times New Roman" panose="02020603050405020304" pitchFamily="18" charset="0"/>
                <a:cs typeface="Times New Roman" panose="02020603050405020304" pitchFamily="18" charset="0"/>
              </a:rPr>
              <a:t>Supports real-time forecasting and scenario-based planning.</a:t>
            </a:r>
          </a:p>
          <a:p>
            <a:r>
              <a:rPr lang="en-US" sz="2600" dirty="0">
                <a:latin typeface="Times New Roman" panose="02020603050405020304" pitchFamily="18" charset="0"/>
                <a:cs typeface="Times New Roman" panose="02020603050405020304" pitchFamily="18" charset="0"/>
              </a:rPr>
              <a:t>High implementation cost and complex configuration process.</a:t>
            </a:r>
          </a:p>
          <a:p>
            <a:r>
              <a:rPr lang="en-US" sz="2600" dirty="0">
                <a:latin typeface="Times New Roman" panose="02020603050405020304" pitchFamily="18" charset="0"/>
                <a:cs typeface="Times New Roman" panose="02020603050405020304" pitchFamily="18" charset="0"/>
              </a:rPr>
              <a:t>Requires technical expertise and is less flexible for customized forecasting needs.</a:t>
            </a:r>
          </a:p>
          <a:p>
            <a:pPr marL="0" indent="0">
              <a:buNone/>
            </a:pPr>
            <a:br>
              <a:rPr lang="en-US" sz="2100" dirty="0">
                <a:latin typeface="Times New Roman" panose="02020603050405020304" pitchFamily="18" charset="0"/>
                <a:cs typeface="Times New Roman" panose="02020603050405020304" pitchFamily="18" charset="0"/>
              </a:rPr>
            </a:br>
            <a:br>
              <a:rPr lang="en-US" sz="2100" dirty="0">
                <a:latin typeface="Times New Roman" panose="02020603050405020304" pitchFamily="18" charset="0"/>
                <a:cs typeface="Times New Roman" panose="02020603050405020304" pitchFamily="18" charset="0"/>
              </a:rPr>
            </a:br>
            <a:br>
              <a:rPr lang="en-US" sz="2100" dirty="0">
                <a:latin typeface="Times New Roman" panose="02020603050405020304" pitchFamily="18" charset="0"/>
                <a:cs typeface="Times New Roman" panose="02020603050405020304" pitchFamily="18" charset="0"/>
              </a:rPr>
            </a:br>
            <a:endParaRPr lang="en-US" sz="2100" b="1"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4AFDE3E-8ADF-E933-9D23-56B0B2C9054C}"/>
              </a:ext>
            </a:extLst>
          </p:cNvPr>
          <p:cNvSpPr>
            <a:spLocks noChangeArrowheads="1"/>
          </p:cNvSpPr>
          <p:nvPr/>
        </p:nvSpPr>
        <p:spPr bwMode="auto">
          <a:xfrm>
            <a:off x="925286" y="5160218"/>
            <a:ext cx="94270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43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0F22-91C2-B295-0CC0-1B05C096D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BE92D-C7EC-C54C-6FC9-101FF7389569}"/>
              </a:ext>
            </a:extLst>
          </p:cNvPr>
          <p:cNvSpPr>
            <a:spLocks noGrp="1"/>
          </p:cNvSpPr>
          <p:nvPr>
            <p:ph type="title"/>
          </p:nvPr>
        </p:nvSpPr>
        <p:spPr>
          <a:xfrm>
            <a:off x="677333" y="496479"/>
            <a:ext cx="8596668" cy="785567"/>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Problem Statement</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FD8747E8-B216-6083-2D12-A9E10284A13D}"/>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A54541DE-38DB-20CF-C7AF-AF2C25CBB535}"/>
              </a:ext>
            </a:extLst>
          </p:cNvPr>
          <p:cNvSpPr>
            <a:spLocks noGrp="1"/>
          </p:cNvSpPr>
          <p:nvPr>
            <p:ph type="sldNum" sz="quarter" idx="12"/>
          </p:nvPr>
        </p:nvSpPr>
        <p:spPr/>
        <p:txBody>
          <a:bodyPr/>
          <a:lstStyle/>
          <a:p>
            <a:fld id="{519954A3-9DFD-4C44-94BA-B95130A3BA1C}" type="slidenum">
              <a:rPr lang="en-US" sz="1600" b="1" smtClean="0"/>
              <a:t>7</a:t>
            </a:fld>
            <a:endParaRPr lang="en-US" sz="1600" b="1" dirty="0"/>
          </a:p>
        </p:txBody>
      </p:sp>
      <p:sp>
        <p:nvSpPr>
          <p:cNvPr id="7" name="Content Placeholder 6">
            <a:extLst>
              <a:ext uri="{FF2B5EF4-FFF2-40B4-BE49-F238E27FC236}">
                <a16:creationId xmlns:a16="http://schemas.microsoft.com/office/drawing/2014/main" id="{58529F74-50C2-D0F9-E191-FC0DD49611C0}"/>
              </a:ext>
            </a:extLst>
          </p:cNvPr>
          <p:cNvSpPr>
            <a:spLocks noGrp="1"/>
          </p:cNvSpPr>
          <p:nvPr>
            <p:ph idx="1"/>
          </p:nvPr>
        </p:nvSpPr>
        <p:spPr>
          <a:xfrm>
            <a:off x="677333" y="1502228"/>
            <a:ext cx="10676467" cy="5091611"/>
          </a:xfrm>
        </p:spPr>
        <p:txBody>
          <a:bodyPr>
            <a:normAutofit/>
          </a:bodyPr>
          <a:lstStyle/>
          <a:p>
            <a:r>
              <a:rPr lang="en-US" sz="2000" dirty="0">
                <a:latin typeface="Times New Roman" panose="02020603050405020304" pitchFamily="18" charset="0"/>
                <a:cs typeface="Times New Roman" panose="02020603050405020304" pitchFamily="18" charset="0"/>
              </a:rPr>
              <a:t>The current food demand planning process in many meal delivery services relies on traditional statistical models or manual estimation techniques. While these methods provide basic forecasts, they often fail to capture complex temporal patterns, seasonal variations, and promotional impacts. This leads to overstocking, food wastage, stock shortages, and financial losses due to inaccurate demand predictions.</a:t>
            </a:r>
          </a:p>
          <a:p>
            <a:r>
              <a:rPr lang="en-US" sz="2000" dirty="0">
                <a:latin typeface="Times New Roman" panose="02020603050405020304" pitchFamily="18" charset="0"/>
                <a:cs typeface="Times New Roman" panose="02020603050405020304" pitchFamily="18" charset="0"/>
              </a:rPr>
              <a:t>Existing enterprise solutions are expensive and complex, making them unsuitable for small and medium businesses. They often lack advanced deep learning capabilities to capture complex demand patterns. Therefore, a scalable forecasting system using machine learning and deep learning is needed for accurate and reliable demand prediction.</a:t>
            </a:r>
          </a:p>
          <a:p>
            <a:r>
              <a:rPr lang="en-IN" sz="2000" b="1" dirty="0">
                <a:latin typeface="Times New Roman" panose="02020603050405020304" pitchFamily="18" charset="0"/>
                <a:cs typeface="Times New Roman" panose="02020603050405020304" pitchFamily="18" charset="0"/>
              </a:rPr>
              <a:t>Problem Domain Knowledge</a:t>
            </a:r>
            <a:r>
              <a:rPr lang="en-US" sz="2000" b="1" dirty="0">
                <a:latin typeface="Times New Roman" panose="02020603050405020304" pitchFamily="18" charset="0"/>
                <a:cs typeface="Times New Roman" panose="02020603050405020304" pitchFamily="18" charset="0"/>
              </a:rPr>
              <a:t> :</a:t>
            </a:r>
          </a:p>
          <a:p>
            <a:pPr marL="457200" lvl="1" indent="0">
              <a:buNone/>
            </a:pPr>
            <a:r>
              <a:rPr lang="en-US" sz="2000" dirty="0">
                <a:latin typeface="Times New Roman" panose="02020603050405020304" pitchFamily="18" charset="0"/>
                <a:cs typeface="Times New Roman" panose="02020603050405020304" pitchFamily="18" charset="0"/>
              </a:rPr>
              <a:t>Food Demand Forecasting falls under the domains of Time Series Analysis, Machine Learning, and Supply Chain Analytics. It involves analyzing historical order data, pricing, promotions, and categorical features to predict future demand. Accurate forecasting requires handling temporal dependencies, seasonality, and external influencing factors to ensure optimal inventory management and reduced food wastage.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567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75F1-5675-2D43-C4FD-C2E58049B777}"/>
              </a:ext>
            </a:extLst>
          </p:cNvPr>
          <p:cNvSpPr>
            <a:spLocks noGrp="1"/>
          </p:cNvSpPr>
          <p:nvPr>
            <p:ph type="title"/>
          </p:nvPr>
        </p:nvSpPr>
        <p:spPr>
          <a:xfrm>
            <a:off x="669737" y="551417"/>
            <a:ext cx="10652110" cy="1325563"/>
          </a:xfrm>
        </p:spPr>
        <p:txBody>
          <a:bodyPr>
            <a:normAutofit/>
          </a:bodyPr>
          <a:lstStyle/>
          <a:p>
            <a:r>
              <a:rPr lang="en-US" sz="2800" b="1" dirty="0">
                <a:latin typeface="Times New Roman" panose="02020603050405020304" pitchFamily="18" charset="0"/>
                <a:cs typeface="Times New Roman" panose="02020603050405020304" pitchFamily="18" charset="0"/>
              </a:rPr>
              <a:t>Functional And Non-Functional Requirements:</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5B133E6-31C4-16C1-8ECC-DD1D7EFBA502}"/>
              </a:ext>
            </a:extLst>
          </p:cNvPr>
          <p:cNvSpPr>
            <a:spLocks noGrp="1"/>
          </p:cNvSpPr>
          <p:nvPr>
            <p:ph type="body" idx="1"/>
          </p:nvPr>
        </p:nvSpPr>
        <p:spPr>
          <a:xfrm>
            <a:off x="669737" y="1730705"/>
            <a:ext cx="5157787" cy="602225"/>
          </a:xfrm>
        </p:spPr>
        <p:txBody>
          <a:bodyPr>
            <a:normAutofit/>
          </a:bodyPr>
          <a:lstStyle/>
          <a:p>
            <a:r>
              <a:rPr lang="en-US" sz="2300" dirty="0">
                <a:latin typeface="Times New Roman" panose="02020603050405020304" pitchFamily="18" charset="0"/>
                <a:cs typeface="Times New Roman" panose="02020603050405020304" pitchFamily="18" charset="0"/>
              </a:rPr>
              <a:t>Functional Requirements</a:t>
            </a:r>
            <a:endParaRPr lang="en-IN" sz="23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16720052-428E-B540-D6FB-10276A91D6C1}"/>
              </a:ext>
            </a:extLst>
          </p:cNvPr>
          <p:cNvSpPr>
            <a:spLocks noGrp="1"/>
          </p:cNvSpPr>
          <p:nvPr>
            <p:ph type="body" sz="quarter" idx="3"/>
          </p:nvPr>
        </p:nvSpPr>
        <p:spPr>
          <a:xfrm>
            <a:off x="6096000" y="1759263"/>
            <a:ext cx="5183188" cy="602225"/>
          </a:xfrm>
        </p:spPr>
        <p:txBody>
          <a:bodyPr>
            <a:normAutofit/>
          </a:bodyPr>
          <a:lstStyle/>
          <a:p>
            <a:r>
              <a:rPr lang="en-US" sz="2300" dirty="0">
                <a:latin typeface="Times New Roman" panose="02020603050405020304" pitchFamily="18" charset="0"/>
                <a:cs typeface="Times New Roman" panose="02020603050405020304" pitchFamily="18" charset="0"/>
              </a:rPr>
              <a:t>Non-Functional Requirements</a:t>
            </a:r>
            <a:endParaRPr lang="en-IN" sz="23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2EC07B5-02AB-EFBA-1D69-83BB0B2D69E2}"/>
              </a:ext>
            </a:extLst>
          </p:cNvPr>
          <p:cNvSpPr>
            <a:spLocks noGrp="1"/>
          </p:cNvSpPr>
          <p:nvPr>
            <p:ph type="sldNum" sz="quarter" idx="12"/>
          </p:nvPr>
        </p:nvSpPr>
        <p:spPr/>
        <p:txBody>
          <a:bodyPr/>
          <a:lstStyle/>
          <a:p>
            <a:fld id="{D57F1E4F-1CFF-5643-939E-217C01CDF565}" type="slidenum">
              <a:rPr lang="en-US" smtClean="0"/>
              <a:pPr/>
              <a:t>8</a:t>
            </a:fld>
            <a:endParaRPr lang="en-US" dirty="0"/>
          </a:p>
        </p:txBody>
      </p:sp>
      <p:cxnSp>
        <p:nvCxnSpPr>
          <p:cNvPr id="10" name="Straight Connector 9">
            <a:extLst>
              <a:ext uri="{FF2B5EF4-FFF2-40B4-BE49-F238E27FC236}">
                <a16:creationId xmlns:a16="http://schemas.microsoft.com/office/drawing/2014/main" id="{32E40667-FC05-82F9-7800-0BA969FA903B}"/>
              </a:ext>
            </a:extLst>
          </p:cNvPr>
          <p:cNvCxnSpPr>
            <a:cxnSpLocks/>
          </p:cNvCxnSpPr>
          <p:nvPr/>
        </p:nvCxnSpPr>
        <p:spPr>
          <a:xfrm flipV="1">
            <a:off x="301250" y="1474190"/>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9" name="Rectangle 2">
            <a:extLst>
              <a:ext uri="{FF2B5EF4-FFF2-40B4-BE49-F238E27FC236}">
                <a16:creationId xmlns:a16="http://schemas.microsoft.com/office/drawing/2014/main" id="{8A74D07A-860A-F097-08FE-341FA557E489}"/>
              </a:ext>
            </a:extLst>
          </p:cNvPr>
          <p:cNvSpPr>
            <a:spLocks noGrp="1" noChangeArrowheads="1"/>
          </p:cNvSpPr>
          <p:nvPr>
            <p:ph sz="half" idx="2"/>
          </p:nvPr>
        </p:nvSpPr>
        <p:spPr bwMode="auto">
          <a:xfrm>
            <a:off x="669737" y="2553445"/>
            <a:ext cx="4779899"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Data loading &amp; preprocessing</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Feature engineering (lag features, moving averages)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Model training (Random Forest, </a:t>
            </a:r>
            <a:r>
              <a:rPr lang="en-US" altLang="en-US" sz="1800" dirty="0" err="1">
                <a:latin typeface="Arial" panose="020B0604020202020204" pitchFamily="34" charset="0"/>
              </a:rPr>
              <a:t>Cat</a:t>
            </a:r>
            <a:r>
              <a:rPr kumimoji="0" lang="en-US" altLang="en-US" sz="1800" b="0" i="0" u="none" strike="noStrike" cap="none" normalizeH="0" baseline="0" dirty="0" err="1">
                <a:ln>
                  <a:noFill/>
                </a:ln>
                <a:solidFill>
                  <a:schemeClr val="tx1"/>
                </a:solidFill>
                <a:effectLst/>
                <a:latin typeface="Arial" panose="020B0604020202020204" pitchFamily="34" charset="0"/>
              </a:rPr>
              <a:t>Boost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LightGBM</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Model evaluation (MAE, RMSE)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Weekly demand forecasting</a:t>
            </a:r>
          </a:p>
        </p:txBody>
      </p:sp>
      <p:sp>
        <p:nvSpPr>
          <p:cNvPr id="11" name="Rectangle 3">
            <a:extLst>
              <a:ext uri="{FF2B5EF4-FFF2-40B4-BE49-F238E27FC236}">
                <a16:creationId xmlns:a16="http://schemas.microsoft.com/office/drawing/2014/main" id="{7528959A-9566-5CD2-241B-0980AA7D540F}"/>
              </a:ext>
            </a:extLst>
          </p:cNvPr>
          <p:cNvSpPr>
            <a:spLocks noGrp="1" noChangeArrowheads="1"/>
          </p:cNvSpPr>
          <p:nvPr>
            <p:ph sz="quarter" idx="4"/>
          </p:nvPr>
        </p:nvSpPr>
        <p:spPr bwMode="auto">
          <a:xfrm>
            <a:off x="6096000" y="2610561"/>
            <a:ext cx="2547937"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Prediction accuracy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High performance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Scalability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Fast response time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Maintainability</a:t>
            </a:r>
          </a:p>
        </p:txBody>
      </p:sp>
    </p:spTree>
    <p:extLst>
      <p:ext uri="{BB962C8B-B14F-4D97-AF65-F5344CB8AC3E}">
        <p14:creationId xmlns:p14="http://schemas.microsoft.com/office/powerpoint/2010/main" val="1389431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3D4A-35FC-DF11-14D9-98FE9FBBF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E7A28-1F79-DEBF-5B73-C849849C48F6}"/>
              </a:ext>
            </a:extLst>
          </p:cNvPr>
          <p:cNvSpPr>
            <a:spLocks noGrp="1"/>
          </p:cNvSpPr>
          <p:nvPr>
            <p:ph type="title"/>
          </p:nvPr>
        </p:nvSpPr>
        <p:spPr>
          <a:xfrm>
            <a:off x="756558" y="309386"/>
            <a:ext cx="10515600" cy="1325563"/>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Hardware &amp; Software Requirements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0B42F1-FD58-0F9B-617D-32DC1AD820E7}"/>
              </a:ext>
            </a:extLst>
          </p:cNvPr>
          <p:cNvSpPr>
            <a:spLocks noGrp="1"/>
          </p:cNvSpPr>
          <p:nvPr>
            <p:ph sz="half" idx="1"/>
          </p:nvPr>
        </p:nvSpPr>
        <p:spPr>
          <a:xfrm>
            <a:off x="674915" y="1825625"/>
            <a:ext cx="5181600" cy="4351338"/>
          </a:xfrm>
        </p:spPr>
        <p:txBody>
          <a:bodyPr/>
          <a:lstStyle/>
          <a:p>
            <a:pPr marL="0" indent="0">
              <a:buNone/>
            </a:pPr>
            <a:r>
              <a:rPr lang="en-US" sz="2300" b="1" dirty="0">
                <a:latin typeface="Times New Roman" panose="02020603050405020304" pitchFamily="18" charset="0"/>
                <a:cs typeface="Times New Roman" panose="02020603050405020304" pitchFamily="18" charset="0"/>
              </a:rPr>
              <a:t>Hardware Requirements:</a:t>
            </a:r>
            <a:br>
              <a:rPr lang="en-US" dirty="0"/>
            </a:br>
            <a:endParaRPr lang="en-US" dirty="0"/>
          </a:p>
          <a:p>
            <a:pPr marL="0" indent="0">
              <a:buNone/>
            </a:pPr>
            <a:endParaRPr lang="en-IN" sz="2000" dirty="0"/>
          </a:p>
        </p:txBody>
      </p:sp>
      <p:sp>
        <p:nvSpPr>
          <p:cNvPr id="6" name="Content Placeholder 5">
            <a:extLst>
              <a:ext uri="{FF2B5EF4-FFF2-40B4-BE49-F238E27FC236}">
                <a16:creationId xmlns:a16="http://schemas.microsoft.com/office/drawing/2014/main" id="{DF5DBDE7-CF2D-8369-ABA5-7F62578324BF}"/>
              </a:ext>
            </a:extLst>
          </p:cNvPr>
          <p:cNvSpPr>
            <a:spLocks noGrp="1"/>
          </p:cNvSpPr>
          <p:nvPr>
            <p:ph sz="half" idx="2"/>
          </p:nvPr>
        </p:nvSpPr>
        <p:spPr/>
        <p:txBody>
          <a:bodyPr>
            <a:normAutofit/>
          </a:bodyPr>
          <a:lstStyle/>
          <a:p>
            <a:pPr marL="0" indent="0">
              <a:buNone/>
            </a:pPr>
            <a:r>
              <a:rPr lang="en-US" sz="2300" b="1" dirty="0">
                <a:latin typeface="Times New Roman" panose="02020603050405020304" pitchFamily="18" charset="0"/>
                <a:cs typeface="Times New Roman" panose="02020603050405020304" pitchFamily="18" charset="0"/>
              </a:rPr>
              <a:t>Software Requirements:</a:t>
            </a:r>
            <a:br>
              <a:rPr lang="en-US" sz="2300" b="1" dirty="0">
                <a:latin typeface="Times New Roman" panose="02020603050405020304" pitchFamily="18" charset="0"/>
                <a:cs typeface="Times New Roman" panose="02020603050405020304" pitchFamily="18" charset="0"/>
              </a:rPr>
            </a:br>
            <a:endParaRPr lang="en-US" sz="2300" b="1" dirty="0">
              <a:latin typeface="Times New Roman" panose="02020603050405020304" pitchFamily="18" charset="0"/>
              <a:cs typeface="Times New Roman" panose="02020603050405020304" pitchFamily="18" charset="0"/>
            </a:endParaRPr>
          </a:p>
          <a:p>
            <a:pPr marL="0" indent="0">
              <a:buNone/>
            </a:pPr>
            <a:endParaRPr lang="en-IN" sz="2000" dirty="0"/>
          </a:p>
        </p:txBody>
      </p:sp>
      <p:sp>
        <p:nvSpPr>
          <p:cNvPr id="4" name="Slide Number Placeholder 3">
            <a:extLst>
              <a:ext uri="{FF2B5EF4-FFF2-40B4-BE49-F238E27FC236}">
                <a16:creationId xmlns:a16="http://schemas.microsoft.com/office/drawing/2014/main" id="{E5E1CAD9-1178-2B8E-A28B-5163C64BB03C}"/>
              </a:ext>
            </a:extLst>
          </p:cNvPr>
          <p:cNvSpPr>
            <a:spLocks noGrp="1"/>
          </p:cNvSpPr>
          <p:nvPr>
            <p:ph type="sldNum" sz="quarter" idx="12"/>
          </p:nvPr>
        </p:nvSpPr>
        <p:spPr/>
        <p:txBody>
          <a:bodyPr/>
          <a:lstStyle/>
          <a:p>
            <a:fld id="{519954A3-9DFD-4C44-94BA-B95130A3BA1C}" type="slidenum">
              <a:rPr lang="en-US" sz="1600" b="1" smtClean="0"/>
              <a:t>9</a:t>
            </a:fld>
            <a:endParaRPr lang="en-US" sz="1600" b="1" dirty="0"/>
          </a:p>
        </p:txBody>
      </p:sp>
      <p:cxnSp>
        <p:nvCxnSpPr>
          <p:cNvPr id="5" name="Straight Connector 4">
            <a:extLst>
              <a:ext uri="{FF2B5EF4-FFF2-40B4-BE49-F238E27FC236}">
                <a16:creationId xmlns:a16="http://schemas.microsoft.com/office/drawing/2014/main" id="{9DE14EF9-8507-ED4C-48D5-F2AD76D551B9}"/>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10" name="Rectangle 2">
            <a:extLst>
              <a:ext uri="{FF2B5EF4-FFF2-40B4-BE49-F238E27FC236}">
                <a16:creationId xmlns:a16="http://schemas.microsoft.com/office/drawing/2014/main" id="{B9096AE3-EC4D-6C5C-668D-21389C958A3C}"/>
              </a:ext>
            </a:extLst>
          </p:cNvPr>
          <p:cNvSpPr>
            <a:spLocks noChangeArrowheads="1"/>
          </p:cNvSpPr>
          <p:nvPr/>
        </p:nvSpPr>
        <p:spPr bwMode="auto">
          <a:xfrm>
            <a:off x="674915" y="2329135"/>
            <a:ext cx="320954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i5</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GB</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256 GB SSD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Type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64-bit system</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connection</a:t>
            </a:r>
          </a:p>
        </p:txBody>
      </p:sp>
      <p:sp>
        <p:nvSpPr>
          <p:cNvPr id="7" name="Rectangle 1">
            <a:extLst>
              <a:ext uri="{FF2B5EF4-FFF2-40B4-BE49-F238E27FC236}">
                <a16:creationId xmlns:a16="http://schemas.microsoft.com/office/drawing/2014/main" id="{8FEB3993-B230-E2C0-37AA-577D31D96D3E}"/>
              </a:ext>
            </a:extLst>
          </p:cNvPr>
          <p:cNvSpPr>
            <a:spLocks noChangeArrowheads="1"/>
          </p:cNvSpPr>
          <p:nvPr/>
        </p:nvSpPr>
        <p:spPr bwMode="auto">
          <a:xfrm>
            <a:off x="6096000" y="2329135"/>
            <a:ext cx="5573268"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3.x</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 Studio Code (VS Code)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Framework: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NumPy, Pandas, Matplotlib, Scikit-learn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a:t>
            </a:r>
          </a:p>
        </p:txBody>
      </p:sp>
    </p:spTree>
    <p:extLst>
      <p:ext uri="{BB962C8B-B14F-4D97-AF65-F5344CB8AC3E}">
        <p14:creationId xmlns:p14="http://schemas.microsoft.com/office/powerpoint/2010/main" val="1656800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A597-9331-6982-AC74-1B975DA31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36F1B-7B86-585E-3188-7BAB5A9420D3}"/>
              </a:ext>
            </a:extLst>
          </p:cNvPr>
          <p:cNvSpPr>
            <a:spLocks noGrp="1"/>
          </p:cNvSpPr>
          <p:nvPr>
            <p:ph type="title"/>
          </p:nvPr>
        </p:nvSpPr>
        <p:spPr>
          <a:xfrm>
            <a:off x="677333" y="496479"/>
            <a:ext cx="8596668" cy="785567"/>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Proposed Methodology</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E836BC2D-1AF3-06E5-5C95-DC77F532368B}"/>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A1BF13F6-FE67-7BCE-269E-6CE28191F803}"/>
              </a:ext>
            </a:extLst>
          </p:cNvPr>
          <p:cNvSpPr>
            <a:spLocks noGrp="1"/>
          </p:cNvSpPr>
          <p:nvPr>
            <p:ph type="sldNum" sz="quarter" idx="12"/>
          </p:nvPr>
        </p:nvSpPr>
        <p:spPr/>
        <p:txBody>
          <a:bodyPr/>
          <a:lstStyle/>
          <a:p>
            <a:fld id="{519954A3-9DFD-4C44-94BA-B95130A3BA1C}" type="slidenum">
              <a:rPr lang="en-US" sz="1600" b="1" smtClean="0"/>
              <a:t>10</a:t>
            </a:fld>
            <a:endParaRPr lang="en-US" sz="1600" b="1" dirty="0"/>
          </a:p>
        </p:txBody>
      </p:sp>
      <p:sp>
        <p:nvSpPr>
          <p:cNvPr id="3" name="Rectangle 1">
            <a:extLst>
              <a:ext uri="{FF2B5EF4-FFF2-40B4-BE49-F238E27FC236}">
                <a16:creationId xmlns:a16="http://schemas.microsoft.com/office/drawing/2014/main" id="{F29300DF-7F64-D263-3291-212035ABB276}"/>
              </a:ext>
            </a:extLst>
          </p:cNvPr>
          <p:cNvSpPr>
            <a:spLocks noGrp="1" noChangeArrowheads="1"/>
          </p:cNvSpPr>
          <p:nvPr>
            <p:ph idx="1"/>
          </p:nvPr>
        </p:nvSpPr>
        <p:spPr bwMode="auto">
          <a:xfrm>
            <a:off x="746881" y="1695673"/>
            <a:ext cx="10698238" cy="38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latin typeface="Times New Roman" panose="02020603050405020304" pitchFamily="18" charset="0"/>
                <a:cs typeface="Times New Roman" panose="02020603050405020304" pitchFamily="18" charset="0"/>
              </a:rPr>
              <a:t>The proposed system uses a time series–based machine learning and deep learning approach to predict weekly food demand.</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Collection:</a:t>
            </a:r>
            <a:r>
              <a:rPr lang="en-US" sz="2000" dirty="0">
                <a:latin typeface="Times New Roman" panose="02020603050405020304" pitchFamily="18" charset="0"/>
                <a:cs typeface="Times New Roman" panose="02020603050405020304" pitchFamily="18" charset="0"/>
              </a:rPr>
              <a:t> Historical order, pricing, and promotion data are used.</a:t>
            </a:r>
          </a:p>
          <a:p>
            <a:r>
              <a:rPr lang="en-US" sz="2000" b="1" dirty="0">
                <a:latin typeface="Times New Roman" panose="02020603050405020304" pitchFamily="18" charset="0"/>
                <a:cs typeface="Times New Roman" panose="02020603050405020304" pitchFamily="18" charset="0"/>
              </a:rPr>
              <a:t>Data Preprocessing: </a:t>
            </a:r>
            <a:r>
              <a:rPr lang="en-US" sz="2000" dirty="0">
                <a:latin typeface="Times New Roman" panose="02020603050405020304" pitchFamily="18" charset="0"/>
                <a:cs typeface="Times New Roman" panose="02020603050405020304" pitchFamily="18" charset="0"/>
              </a:rPr>
              <a:t>Missing values are handled and categorical features are encoded.</a:t>
            </a:r>
          </a:p>
          <a:p>
            <a:r>
              <a:rPr lang="en-US" sz="2000" b="1" dirty="0">
                <a:latin typeface="Times New Roman" panose="02020603050405020304" pitchFamily="18" charset="0"/>
                <a:cs typeface="Times New Roman" panose="02020603050405020304" pitchFamily="18" charset="0"/>
              </a:rPr>
              <a:t>Feature Engineering: </a:t>
            </a:r>
            <a:r>
              <a:rPr lang="en-US" sz="2000" dirty="0">
                <a:latin typeface="Times New Roman" panose="02020603050405020304" pitchFamily="18" charset="0"/>
                <a:cs typeface="Times New Roman" panose="02020603050405020304" pitchFamily="18" charset="0"/>
              </a:rPr>
              <a:t>Lag features and moving averages are created to capture trends.</a:t>
            </a:r>
          </a:p>
          <a:p>
            <a:r>
              <a:rPr lang="en-US" sz="2000" b="1" dirty="0">
                <a:latin typeface="Times New Roman" panose="02020603050405020304" pitchFamily="18" charset="0"/>
                <a:cs typeface="Times New Roman" panose="02020603050405020304" pitchFamily="18" charset="0"/>
              </a:rPr>
              <a:t>Model Building:</a:t>
            </a:r>
            <a:r>
              <a:rPr lang="en-US" sz="2000" dirty="0">
                <a:latin typeface="Times New Roman" panose="02020603050405020304" pitchFamily="18" charset="0"/>
                <a:cs typeface="Times New Roman" panose="02020603050405020304" pitchFamily="18" charset="0"/>
              </a:rPr>
              <a:t> Random Forest, </a:t>
            </a:r>
            <a:r>
              <a:rPr lang="en-US" sz="2000" dirty="0" err="1">
                <a:latin typeface="Times New Roman" panose="02020603050405020304" pitchFamily="18" charset="0"/>
                <a:cs typeface="Times New Roman" panose="02020603050405020304" pitchFamily="18" charset="0"/>
              </a:rPr>
              <a:t>CatBoost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models are trained.</a:t>
            </a:r>
          </a:p>
          <a:p>
            <a:r>
              <a:rPr lang="en-US" sz="2000" b="1" dirty="0">
                <a:latin typeface="Times New Roman" panose="02020603050405020304" pitchFamily="18" charset="0"/>
                <a:cs typeface="Times New Roman" panose="02020603050405020304" pitchFamily="18" charset="0"/>
              </a:rPr>
              <a:t>Model Evaluation: </a:t>
            </a:r>
            <a:r>
              <a:rPr lang="en-US" sz="2000" dirty="0">
                <a:latin typeface="Times New Roman" panose="02020603050405020304" pitchFamily="18" charset="0"/>
                <a:cs typeface="Times New Roman" panose="02020603050405020304" pitchFamily="18" charset="0"/>
              </a:rPr>
              <a:t>Models are compared using MAE and RMSE.</a:t>
            </a:r>
          </a:p>
          <a:p>
            <a:r>
              <a:rPr lang="en-US" sz="2000" b="1" dirty="0">
                <a:latin typeface="Times New Roman" panose="02020603050405020304" pitchFamily="18" charset="0"/>
                <a:cs typeface="Times New Roman" panose="02020603050405020304" pitchFamily="18" charset="0"/>
              </a:rPr>
              <a:t>Forecasting:</a:t>
            </a:r>
            <a:r>
              <a:rPr lang="en-US" sz="2000" dirty="0">
                <a:latin typeface="Times New Roman" panose="02020603050405020304" pitchFamily="18" charset="0"/>
                <a:cs typeface="Times New Roman" panose="02020603050405020304" pitchFamily="18" charset="0"/>
              </a:rPr>
              <a:t> The best model generates demand predictions for better inventory planning.</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078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DF0DC-791A-0B98-95C8-3E216159E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0D1D4-89D7-CB7B-C11E-FFD4FDCADD66}"/>
              </a:ext>
            </a:extLst>
          </p:cNvPr>
          <p:cNvSpPr>
            <a:spLocks noGrp="1"/>
          </p:cNvSpPr>
          <p:nvPr>
            <p:ph type="title"/>
          </p:nvPr>
        </p:nvSpPr>
        <p:spPr>
          <a:xfrm>
            <a:off x="677333" y="496479"/>
            <a:ext cx="4125895" cy="785567"/>
          </a:xfrm>
        </p:spPr>
        <p:txBody>
          <a:bodyPr>
            <a:normAutofit/>
          </a:bodyPr>
          <a:lstStyle/>
          <a:p>
            <a:r>
              <a:rPr lang="en-US" sz="2800" b="1" dirty="0">
                <a:latin typeface="Times New Roman" panose="02020603050405020304" pitchFamily="18" charset="0"/>
                <a:cs typeface="Times New Roman" panose="02020603050405020304" pitchFamily="18" charset="0"/>
              </a:rPr>
              <a:t>System Architecture</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1B17C0C-631B-DD47-3F42-CFC264F567AB}"/>
              </a:ext>
            </a:extLst>
          </p:cNvPr>
          <p:cNvSpPr>
            <a:spLocks noGrp="1"/>
          </p:cNvSpPr>
          <p:nvPr>
            <p:ph type="sldNum" sz="quarter" idx="12"/>
          </p:nvPr>
        </p:nvSpPr>
        <p:spPr/>
        <p:txBody>
          <a:bodyPr/>
          <a:lstStyle/>
          <a:p>
            <a:fld id="{519954A3-9DFD-4C44-94BA-B95130A3BA1C}" type="slidenum">
              <a:rPr lang="en-US" sz="1600" b="1" smtClean="0"/>
              <a:t>11</a:t>
            </a:fld>
            <a:endParaRPr lang="en-US" sz="1600" b="1" dirty="0"/>
          </a:p>
        </p:txBody>
      </p:sp>
      <p:pic>
        <p:nvPicPr>
          <p:cNvPr id="5" name="Picture 4">
            <a:extLst>
              <a:ext uri="{FF2B5EF4-FFF2-40B4-BE49-F238E27FC236}">
                <a16:creationId xmlns:a16="http://schemas.microsoft.com/office/drawing/2014/main" id="{AC39C3BC-4266-773D-7848-88D779C2AAE8}"/>
              </a:ext>
            </a:extLst>
          </p:cNvPr>
          <p:cNvPicPr>
            <a:picLocks noChangeAspect="1"/>
          </p:cNvPicPr>
          <p:nvPr/>
        </p:nvPicPr>
        <p:blipFill>
          <a:blip r:embed="rId2"/>
          <a:stretch>
            <a:fillRect/>
          </a:stretch>
        </p:blipFill>
        <p:spPr>
          <a:xfrm>
            <a:off x="1837944" y="1391158"/>
            <a:ext cx="8833104" cy="4965192"/>
          </a:xfrm>
          <a:prstGeom prst="rect">
            <a:avLst/>
          </a:prstGeom>
        </p:spPr>
      </p:pic>
    </p:spTree>
    <p:extLst>
      <p:ext uri="{BB962C8B-B14F-4D97-AF65-F5344CB8AC3E}">
        <p14:creationId xmlns:p14="http://schemas.microsoft.com/office/powerpoint/2010/main" val="1769472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0F6-6AAF-CF49-1AC3-C83EECD5060F}"/>
              </a:ext>
            </a:extLst>
          </p:cNvPr>
          <p:cNvSpPr>
            <a:spLocks noGrp="1"/>
          </p:cNvSpPr>
          <p:nvPr>
            <p:ph type="title"/>
          </p:nvPr>
        </p:nvSpPr>
        <p:spPr>
          <a:xfrm>
            <a:off x="312683" y="256268"/>
            <a:ext cx="4385441" cy="690789"/>
          </a:xfrm>
        </p:spPr>
        <p:txBody>
          <a:bodyPr>
            <a:normAutofit/>
          </a:bodyPr>
          <a:lstStyle/>
          <a:p>
            <a:pPr algn="ctr"/>
            <a:r>
              <a:rPr lang="en-US" sz="2800" b="1" dirty="0">
                <a:latin typeface="Times New Roman" panose="02020603050405020304" pitchFamily="18" charset="0"/>
                <a:cs typeface="Times New Roman" panose="02020603050405020304" pitchFamily="18" charset="0"/>
              </a:rPr>
              <a:t>Use Case Diagram </a:t>
            </a:r>
            <a:endParaRPr lang="en-IN" sz="28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BCA7E3-0349-65D3-3935-0DC25387170E}"/>
              </a:ext>
            </a:extLst>
          </p:cNvPr>
          <p:cNvSpPr>
            <a:spLocks noGrp="1"/>
          </p:cNvSpPr>
          <p:nvPr>
            <p:ph type="sldNum" sz="quarter" idx="12"/>
          </p:nvPr>
        </p:nvSpPr>
        <p:spPr/>
        <p:txBody>
          <a:bodyPr/>
          <a:lstStyle/>
          <a:p>
            <a:fld id="{519954A3-9DFD-4C44-94BA-B95130A3BA1C}" type="slidenum">
              <a:rPr lang="en-US" smtClean="0"/>
              <a:t>12</a:t>
            </a:fld>
            <a:endParaRPr lang="en-US" dirty="0"/>
          </a:p>
        </p:txBody>
      </p:sp>
      <p:pic>
        <p:nvPicPr>
          <p:cNvPr id="1026" name="Picture 2" descr="PlantUML diagram">
            <a:extLst>
              <a:ext uri="{FF2B5EF4-FFF2-40B4-BE49-F238E27FC236}">
                <a16:creationId xmlns:a16="http://schemas.microsoft.com/office/drawing/2014/main" id="{ABB858FF-BD43-A4CB-2888-072926D49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438" y="390525"/>
            <a:ext cx="4543234" cy="607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203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FFD4B-B39F-94EB-FC9C-18A223861040}"/>
              </a:ext>
            </a:extLst>
          </p:cNvPr>
          <p:cNvSpPr>
            <a:spLocks noGrp="1"/>
          </p:cNvSpPr>
          <p:nvPr>
            <p:ph type="title"/>
          </p:nvPr>
        </p:nvSpPr>
        <p:spPr>
          <a:xfrm>
            <a:off x="838200" y="136525"/>
            <a:ext cx="10515600" cy="1325563"/>
          </a:xfrm>
        </p:spPr>
        <p:txBody>
          <a:bodyPr>
            <a:normAutofit/>
          </a:bodyPr>
          <a:lstStyle/>
          <a:p>
            <a:r>
              <a:rPr lang="en-IN" sz="2800" b="1" dirty="0">
                <a:latin typeface="Times New Roman" panose="02020603050405020304" pitchFamily="18" charset="0"/>
                <a:cs typeface="Times New Roman" panose="02020603050405020304" pitchFamily="18" charset="0"/>
              </a:rPr>
              <a:t>Sequence Diagram</a:t>
            </a:r>
          </a:p>
        </p:txBody>
      </p:sp>
      <p:sp>
        <p:nvSpPr>
          <p:cNvPr id="3" name="Slide Number Placeholder 2">
            <a:extLst>
              <a:ext uri="{FF2B5EF4-FFF2-40B4-BE49-F238E27FC236}">
                <a16:creationId xmlns:a16="http://schemas.microsoft.com/office/drawing/2014/main" id="{EA62B266-16CF-4E2B-C478-2C271579762F}"/>
              </a:ext>
            </a:extLst>
          </p:cNvPr>
          <p:cNvSpPr>
            <a:spLocks noGrp="1"/>
          </p:cNvSpPr>
          <p:nvPr>
            <p:ph type="sldNum" sz="quarter" idx="12"/>
          </p:nvPr>
        </p:nvSpPr>
        <p:spPr>
          <a:xfrm>
            <a:off x="8610600" y="6356350"/>
            <a:ext cx="2743200" cy="365125"/>
          </a:xfrm>
        </p:spPr>
        <p:txBody>
          <a:bodyPr/>
          <a:lstStyle/>
          <a:p>
            <a:fld id="{D57F1E4F-1CFF-5643-939E-217C01CDF565}" type="slidenum">
              <a:rPr lang="en-US" smtClean="0"/>
              <a:pPr/>
              <a:t>13</a:t>
            </a:fld>
            <a:endParaRPr lang="en-US" dirty="0"/>
          </a:p>
        </p:txBody>
      </p:sp>
      <p:pic>
        <p:nvPicPr>
          <p:cNvPr id="2050" name="Picture 2" descr="PlantUML diagram">
            <a:extLst>
              <a:ext uri="{FF2B5EF4-FFF2-40B4-BE49-F238E27FC236}">
                <a16:creationId xmlns:a16="http://schemas.microsoft.com/office/drawing/2014/main" id="{5765C96B-410D-938D-904B-C736C3B475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357"/>
          <a:stretch>
            <a:fillRect/>
          </a:stretch>
        </p:blipFill>
        <p:spPr bwMode="auto">
          <a:xfrm>
            <a:off x="1975104" y="1462088"/>
            <a:ext cx="8577072" cy="4678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86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53E07-4BE4-C673-6AB5-59B2C4AA9046}"/>
              </a:ext>
            </a:extLst>
          </p:cNvPr>
          <p:cNvSpPr>
            <a:spLocks noGrp="1"/>
          </p:cNvSpPr>
          <p:nvPr>
            <p:ph type="title"/>
          </p:nvPr>
        </p:nvSpPr>
        <p:spPr>
          <a:xfrm>
            <a:off x="743607" y="428188"/>
            <a:ext cx="2913993" cy="990709"/>
          </a:xfrm>
        </p:spPr>
        <p:txBody>
          <a:bodyPr>
            <a:normAutofit/>
          </a:bodyPr>
          <a:lstStyle/>
          <a:p>
            <a:r>
              <a:rPr lang="en-IN" sz="2800" b="1" dirty="0">
                <a:latin typeface="Times New Roman" panose="02020603050405020304" pitchFamily="18" charset="0"/>
                <a:cs typeface="Times New Roman" panose="02020603050405020304" pitchFamily="18" charset="0"/>
              </a:rPr>
              <a:t>Class Diagram</a:t>
            </a:r>
          </a:p>
        </p:txBody>
      </p:sp>
      <p:sp>
        <p:nvSpPr>
          <p:cNvPr id="3" name="Slide Number Placeholder 2">
            <a:extLst>
              <a:ext uri="{FF2B5EF4-FFF2-40B4-BE49-F238E27FC236}">
                <a16:creationId xmlns:a16="http://schemas.microsoft.com/office/drawing/2014/main" id="{1A9FEA29-73EE-9D2E-7392-03725193530F}"/>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2050" name="Picture 2" descr="PlantUML diagram">
            <a:extLst>
              <a:ext uri="{FF2B5EF4-FFF2-40B4-BE49-F238E27FC236}">
                <a16:creationId xmlns:a16="http://schemas.microsoft.com/office/drawing/2014/main" id="{3685C901-CF51-DACB-05F9-507B66E0A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5242" y="239014"/>
            <a:ext cx="5201094" cy="6117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989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709F-174F-3D0A-E664-6262262783C6}"/>
              </a:ext>
            </a:extLst>
          </p:cNvPr>
          <p:cNvSpPr>
            <a:spLocks noGrp="1"/>
          </p:cNvSpPr>
          <p:nvPr>
            <p:ph type="title"/>
          </p:nvPr>
        </p:nvSpPr>
        <p:spPr>
          <a:xfrm>
            <a:off x="838200" y="365125"/>
            <a:ext cx="3029607" cy="1325563"/>
          </a:xfrm>
        </p:spPr>
        <p:txBody>
          <a:bodyPr>
            <a:normAutofit/>
          </a:bodyPr>
          <a:lstStyle/>
          <a:p>
            <a:r>
              <a:rPr lang="en-IN" sz="2800" b="1" dirty="0">
                <a:latin typeface="Times New Roman" panose="02020603050405020304" pitchFamily="18" charset="0"/>
                <a:cs typeface="Times New Roman" panose="02020603050405020304" pitchFamily="18" charset="0"/>
              </a:rPr>
              <a:t>Activity Diagram</a:t>
            </a:r>
          </a:p>
        </p:txBody>
      </p:sp>
      <p:sp>
        <p:nvSpPr>
          <p:cNvPr id="3" name="Slide Number Placeholder 2">
            <a:extLst>
              <a:ext uri="{FF2B5EF4-FFF2-40B4-BE49-F238E27FC236}">
                <a16:creationId xmlns:a16="http://schemas.microsoft.com/office/drawing/2014/main" id="{8D826546-5902-F114-1BED-BFE7E3AC41D5}"/>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5" name="Picture 4">
            <a:extLst>
              <a:ext uri="{FF2B5EF4-FFF2-40B4-BE49-F238E27FC236}">
                <a16:creationId xmlns:a16="http://schemas.microsoft.com/office/drawing/2014/main" id="{BAEB4C20-396D-A256-680D-DEBA697D5296}"/>
              </a:ext>
            </a:extLst>
          </p:cNvPr>
          <p:cNvPicPr>
            <a:picLocks noChangeAspect="1"/>
          </p:cNvPicPr>
          <p:nvPr/>
        </p:nvPicPr>
        <p:blipFill>
          <a:blip r:embed="rId2"/>
          <a:stretch>
            <a:fillRect/>
          </a:stretch>
        </p:blipFill>
        <p:spPr>
          <a:xfrm>
            <a:off x="3739057" y="365125"/>
            <a:ext cx="5662222" cy="6356350"/>
          </a:xfrm>
          <a:prstGeom prst="rect">
            <a:avLst/>
          </a:prstGeom>
        </p:spPr>
      </p:pic>
    </p:spTree>
    <p:extLst>
      <p:ext uri="{BB962C8B-B14F-4D97-AF65-F5344CB8AC3E}">
        <p14:creationId xmlns:p14="http://schemas.microsoft.com/office/powerpoint/2010/main" val="1496010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D6C4F-2FED-A018-5998-0AE0CF2D3559}"/>
              </a:ext>
            </a:extLst>
          </p:cNvPr>
          <p:cNvSpPr>
            <a:spLocks noGrp="1"/>
          </p:cNvSpPr>
          <p:nvPr>
            <p:ph type="title"/>
          </p:nvPr>
        </p:nvSpPr>
        <p:spPr>
          <a:xfrm>
            <a:off x="499872" y="272923"/>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Component Diagram</a:t>
            </a:r>
            <a:endParaRPr lang="en-IN" sz="28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ECC72C2-F3EF-85C6-F609-20C8965A9A98}"/>
              </a:ext>
            </a:extLst>
          </p:cNvPr>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1028" name="Picture 4" descr="PlantUML diagram">
            <a:extLst>
              <a:ext uri="{FF2B5EF4-FFF2-40B4-BE49-F238E27FC236}">
                <a16:creationId xmlns:a16="http://schemas.microsoft.com/office/drawing/2014/main" id="{524D6C1D-A70B-24EA-6AF3-2BC6C6E9D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494" y="746125"/>
            <a:ext cx="5810250" cy="561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0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52DB4-E3E5-1D63-9040-B7B47A147B50}"/>
              </a:ext>
            </a:extLst>
          </p:cNvPr>
          <p:cNvSpPr>
            <a:spLocks noGrp="1"/>
          </p:cNvSpPr>
          <p:nvPr>
            <p:ph type="title"/>
          </p:nvPr>
        </p:nvSpPr>
        <p:spPr>
          <a:xfrm>
            <a:off x="785648" y="217980"/>
            <a:ext cx="3670738" cy="1325563"/>
          </a:xfrm>
        </p:spPr>
        <p:txBody>
          <a:bodyPr>
            <a:normAutofit/>
          </a:bodyPr>
          <a:lstStyle/>
          <a:p>
            <a:r>
              <a:rPr lang="en-IN" sz="2800" b="1" dirty="0">
                <a:latin typeface="Times New Roman" panose="02020603050405020304" pitchFamily="18" charset="0"/>
                <a:cs typeface="Times New Roman" panose="02020603050405020304" pitchFamily="18" charset="0"/>
              </a:rPr>
              <a:t>Deployment Diagram</a:t>
            </a:r>
          </a:p>
        </p:txBody>
      </p:sp>
      <p:sp>
        <p:nvSpPr>
          <p:cNvPr id="3" name="Slide Number Placeholder 2">
            <a:extLst>
              <a:ext uri="{FF2B5EF4-FFF2-40B4-BE49-F238E27FC236}">
                <a16:creationId xmlns:a16="http://schemas.microsoft.com/office/drawing/2014/main" id="{1D8D3AFA-5461-C989-5C60-E794DF4C47F5}"/>
              </a:ext>
            </a:extLst>
          </p:cNvPr>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5" name="Picture 4">
            <a:extLst>
              <a:ext uri="{FF2B5EF4-FFF2-40B4-BE49-F238E27FC236}">
                <a16:creationId xmlns:a16="http://schemas.microsoft.com/office/drawing/2014/main" id="{C2E9D385-2B22-57D7-195F-C4A09F429537}"/>
              </a:ext>
            </a:extLst>
          </p:cNvPr>
          <p:cNvPicPr>
            <a:picLocks noChangeAspect="1"/>
          </p:cNvPicPr>
          <p:nvPr/>
        </p:nvPicPr>
        <p:blipFill>
          <a:blip r:embed="rId2"/>
          <a:stretch>
            <a:fillRect/>
          </a:stretch>
        </p:blipFill>
        <p:spPr>
          <a:xfrm>
            <a:off x="3593214" y="1318875"/>
            <a:ext cx="4858428" cy="4829849"/>
          </a:xfrm>
          <a:prstGeom prst="rect">
            <a:avLst/>
          </a:prstGeom>
        </p:spPr>
      </p:pic>
    </p:spTree>
    <p:extLst>
      <p:ext uri="{BB962C8B-B14F-4D97-AF65-F5344CB8AC3E}">
        <p14:creationId xmlns:p14="http://schemas.microsoft.com/office/powerpoint/2010/main" val="407255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846398-DAAD-D2E3-B37A-B2325A64D65F}"/>
              </a:ext>
            </a:extLst>
          </p:cNvPr>
          <p:cNvSpPr>
            <a:spLocks noGrp="1"/>
          </p:cNvSpPr>
          <p:nvPr>
            <p:ph type="sldNum" sz="quarter" idx="12"/>
          </p:nvPr>
        </p:nvSpPr>
        <p:spPr/>
        <p:txBody>
          <a:bodyPr/>
          <a:lstStyle/>
          <a:p>
            <a:fld id="{519954A3-9DFD-4C44-94BA-B95130A3BA1C}" type="slidenum">
              <a:rPr lang="en-US" smtClean="0"/>
              <a:t>18</a:t>
            </a:fld>
            <a:endParaRPr lang="en-US" dirty="0"/>
          </a:p>
        </p:txBody>
      </p:sp>
      <p:cxnSp>
        <p:nvCxnSpPr>
          <p:cNvPr id="6" name="Straight Connector 5">
            <a:extLst>
              <a:ext uri="{FF2B5EF4-FFF2-40B4-BE49-F238E27FC236}">
                <a16:creationId xmlns:a16="http://schemas.microsoft.com/office/drawing/2014/main" id="{97154947-32D8-1322-2196-8B4440F07040}"/>
              </a:ext>
            </a:extLst>
          </p:cNvPr>
          <p:cNvCxnSpPr>
            <a:cxnSpLocks/>
          </p:cNvCxnSpPr>
          <p:nvPr/>
        </p:nvCxnSpPr>
        <p:spPr>
          <a:xfrm flipV="1">
            <a:off x="406751" y="1037310"/>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B2270F01-D72F-F9BD-B2D2-B74606E1F7BA}"/>
              </a:ext>
            </a:extLst>
          </p:cNvPr>
          <p:cNvSpPr>
            <a:spLocks noGrp="1"/>
          </p:cNvSpPr>
          <p:nvPr>
            <p:ph type="title"/>
          </p:nvPr>
        </p:nvSpPr>
        <p:spPr>
          <a:xfrm>
            <a:off x="677333" y="333705"/>
            <a:ext cx="8596668" cy="785567"/>
          </a:xfrm>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D164CE47-A484-7E8E-D73D-D804503D698C}"/>
              </a:ext>
            </a:extLst>
          </p:cNvPr>
          <p:cNvSpPr txBox="1"/>
          <p:nvPr/>
        </p:nvSpPr>
        <p:spPr>
          <a:xfrm>
            <a:off x="576749" y="1498634"/>
            <a:ext cx="11310451" cy="4247317"/>
          </a:xfrm>
          <a:prstGeom prst="rect">
            <a:avLst/>
          </a:prstGeom>
          <a:noFill/>
        </p:spPr>
        <p:txBody>
          <a:bodyPr wrap="square">
            <a:spAutoFit/>
          </a:bodyPr>
          <a:lstStyle/>
          <a:p>
            <a:pPr>
              <a:buNone/>
            </a:pPr>
            <a:r>
              <a:rPr lang="en-IN" dirty="0"/>
              <a:t>[1] Kaggle, “Genpact – Food Demand Forecasting Competition.” [Online]. Available:      </a:t>
            </a:r>
            <a:r>
              <a:rPr lang="en-IN" dirty="0">
                <a:hlinkClick r:id="rId2"/>
              </a:rPr>
              <a:t>https://www.kaggle.com/competitions/food-demand-forecasting </a:t>
            </a:r>
            <a:r>
              <a:rPr lang="en-IN" dirty="0"/>
              <a:t>Accessed: Mar. 1, 2026.</a:t>
            </a:r>
          </a:p>
          <a:p>
            <a:pPr>
              <a:buNone/>
            </a:pPr>
            <a:endParaRPr lang="en-IN" dirty="0"/>
          </a:p>
          <a:p>
            <a:pPr>
              <a:buNone/>
            </a:pPr>
            <a:r>
              <a:rPr lang="en-IN" dirty="0"/>
              <a:t>[2] Microsoft, “</a:t>
            </a:r>
            <a:r>
              <a:rPr lang="en-IN" dirty="0" err="1"/>
              <a:t>LightGBM</a:t>
            </a:r>
            <a:r>
              <a:rPr lang="en-IN" dirty="0"/>
              <a:t> Documentation.” [Online]. Available: </a:t>
            </a:r>
            <a:r>
              <a:rPr lang="en-IN" dirty="0">
                <a:hlinkClick r:id="rId3"/>
              </a:rPr>
              <a:t>https://lightgbm.readthedocs.io/</a:t>
            </a:r>
            <a:r>
              <a:rPr lang="en-IN" dirty="0"/>
              <a:t>. Accessed: Mar. 1, 2026.</a:t>
            </a:r>
          </a:p>
          <a:p>
            <a:pPr>
              <a:buNone/>
            </a:pPr>
            <a:endParaRPr lang="en-IN" dirty="0"/>
          </a:p>
          <a:p>
            <a:pPr>
              <a:buNone/>
            </a:pPr>
            <a:r>
              <a:rPr lang="en-IN" dirty="0"/>
              <a:t>[3] L. </a:t>
            </a:r>
            <a:r>
              <a:rPr lang="en-IN" dirty="0" err="1"/>
              <a:t>Prokhorenkova</a:t>
            </a:r>
            <a:r>
              <a:rPr lang="en-IN" dirty="0"/>
              <a:t>, G. Gusev, A. Vorobev, A. V. </a:t>
            </a:r>
            <a:r>
              <a:rPr lang="en-IN" dirty="0" err="1"/>
              <a:t>Dorogush</a:t>
            </a:r>
            <a:r>
              <a:rPr lang="en-IN" dirty="0"/>
              <a:t>, and A. Gulin, “</a:t>
            </a:r>
            <a:r>
              <a:rPr lang="en-IN" dirty="0" err="1"/>
              <a:t>CatBoost</a:t>
            </a:r>
            <a:r>
              <a:rPr lang="en-IN" dirty="0"/>
              <a:t>: Unbiased Boosting with Categorical Features,” </a:t>
            </a:r>
            <a:r>
              <a:rPr lang="en-IN" i="1" dirty="0"/>
              <a:t>Advances in Neural Information Processing Systems</a:t>
            </a:r>
            <a:r>
              <a:rPr lang="en-IN" dirty="0"/>
              <a:t>, vol. 31, 2018. [Online]. Available: </a:t>
            </a:r>
            <a:r>
              <a:rPr lang="en-IN" dirty="0">
                <a:hlinkClick r:id="rId4"/>
              </a:rPr>
              <a:t>https://arxiv.org/abs/1810.11363</a:t>
            </a:r>
            <a:r>
              <a:rPr lang="en-IN" dirty="0"/>
              <a:t>. Accessed: Mar. 1, 2026.</a:t>
            </a:r>
          </a:p>
          <a:p>
            <a:pPr>
              <a:buNone/>
            </a:pPr>
            <a:endParaRPr lang="en-IN" dirty="0"/>
          </a:p>
          <a:p>
            <a:pPr>
              <a:buNone/>
            </a:pPr>
            <a:r>
              <a:rPr lang="en-IN" dirty="0"/>
              <a:t>[4] Blue Yonder, “Demand Planning.” [Online]. Available: </a:t>
            </a:r>
            <a:r>
              <a:rPr lang="en-IN" dirty="0">
                <a:hlinkClick r:id="rId5"/>
              </a:rPr>
              <a:t>https://blueyonder.com/solutions/supply-chain-planning/demand-planning</a:t>
            </a:r>
            <a:r>
              <a:rPr lang="en-IN" dirty="0"/>
              <a:t>. Accessed: Mar. 1, 2026.</a:t>
            </a:r>
          </a:p>
          <a:p>
            <a:pPr>
              <a:buNone/>
            </a:pPr>
            <a:endParaRPr lang="en-IN" dirty="0"/>
          </a:p>
          <a:p>
            <a:pPr>
              <a:buNone/>
            </a:pPr>
            <a:r>
              <a:rPr lang="en-IN" dirty="0"/>
              <a:t>[5] Oracle Corporation, “Oracle Demantra Demand Management Overview.” [Online]. Available: </a:t>
            </a:r>
            <a:r>
              <a:rPr lang="en-IN" dirty="0">
                <a:hlinkClick r:id="rId6"/>
              </a:rPr>
              <a:t>https://docs.oracle.com/cd/E18727_01/doc.121/e05179/T493571T493575.htm</a:t>
            </a:r>
            <a:r>
              <a:rPr lang="en-IN" dirty="0"/>
              <a:t>. Accessed: Mar. 1, 2026.</a:t>
            </a:r>
          </a:p>
        </p:txBody>
      </p:sp>
    </p:spTree>
    <p:extLst>
      <p:ext uri="{BB962C8B-B14F-4D97-AF65-F5344CB8AC3E}">
        <p14:creationId xmlns:p14="http://schemas.microsoft.com/office/powerpoint/2010/main" val="728386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C433B-EC08-AC05-AE27-1605D077E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0A08F-10E7-96CB-77B1-246FBAC0B3A8}"/>
              </a:ext>
            </a:extLst>
          </p:cNvPr>
          <p:cNvSpPr>
            <a:spLocks noGrp="1"/>
          </p:cNvSpPr>
          <p:nvPr>
            <p:ph type="title"/>
          </p:nvPr>
        </p:nvSpPr>
        <p:spPr>
          <a:xfrm>
            <a:off x="677333" y="496479"/>
            <a:ext cx="8596668" cy="785567"/>
          </a:xfrm>
        </p:spPr>
        <p:txBody>
          <a:bodyPr>
            <a:normAutofit/>
          </a:bodyPr>
          <a:lstStyle/>
          <a:p>
            <a:r>
              <a:rPr lang="en-US" sz="2800" b="1" dirty="0">
                <a:latin typeface="Times New Roman" panose="02020603050405020304" pitchFamily="18" charset="0"/>
                <a:cs typeface="Times New Roman" panose="02020603050405020304" pitchFamily="18" charset="0"/>
              </a:rPr>
              <a:t>Future Course of Action</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9B81978-0EB7-E6E0-60F9-F2EA476ED354}"/>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A76CEB45-EDD7-F140-639E-5020AEB8E8D5}"/>
              </a:ext>
            </a:extLst>
          </p:cNvPr>
          <p:cNvSpPr>
            <a:spLocks noGrp="1"/>
          </p:cNvSpPr>
          <p:nvPr>
            <p:ph type="sldNum" sz="quarter" idx="12"/>
          </p:nvPr>
        </p:nvSpPr>
        <p:spPr/>
        <p:txBody>
          <a:bodyPr/>
          <a:lstStyle/>
          <a:p>
            <a:fld id="{519954A3-9DFD-4C44-94BA-B95130A3BA1C}" type="slidenum">
              <a:rPr lang="en-US" sz="1600" b="1" smtClean="0"/>
              <a:t>19</a:t>
            </a:fld>
            <a:endParaRPr lang="en-US" sz="1600" b="1" dirty="0"/>
          </a:p>
        </p:txBody>
      </p:sp>
      <p:sp>
        <p:nvSpPr>
          <p:cNvPr id="6" name="Rectangle 1">
            <a:extLst>
              <a:ext uri="{FF2B5EF4-FFF2-40B4-BE49-F238E27FC236}">
                <a16:creationId xmlns:a16="http://schemas.microsoft.com/office/drawing/2014/main" id="{D3EEB3C3-C2D7-1090-B3F8-6DBA48A0AD12}"/>
              </a:ext>
            </a:extLst>
          </p:cNvPr>
          <p:cNvSpPr>
            <a:spLocks noGrp="1" noChangeArrowheads="1"/>
          </p:cNvSpPr>
          <p:nvPr>
            <p:ph idx="1"/>
          </p:nvPr>
        </p:nvSpPr>
        <p:spPr bwMode="auto">
          <a:xfrm>
            <a:off x="677333" y="1974621"/>
            <a:ext cx="7774885"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model accuracy by adding more historical and external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the system as a cloud-based web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real-time demand prediction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better dashboard for visualization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the system to support multiple cities and fulfillment centers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54123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039527-B2AD-800A-DEF0-C6ED35DFD1B9}"/>
              </a:ext>
            </a:extLst>
          </p:cNvPr>
          <p:cNvSpPr>
            <a:spLocks noGrp="1"/>
          </p:cNvSpPr>
          <p:nvPr>
            <p:ph idx="1"/>
          </p:nvPr>
        </p:nvSpPr>
        <p:spPr>
          <a:xfrm>
            <a:off x="838200" y="2410087"/>
            <a:ext cx="10515600" cy="1294647"/>
          </a:xfrm>
        </p:spPr>
        <p:txBody>
          <a:bodyPr anchor="ctr">
            <a:normAutofit/>
          </a:bodyPr>
          <a:lstStyle/>
          <a:p>
            <a:pPr marL="0" indent="0" algn="ctr">
              <a:buNone/>
            </a:pPr>
            <a:r>
              <a:rPr lang="en-IN" sz="6600" b="1" dirty="0">
                <a:latin typeface="Times New Roman" panose="02020603050405020304" pitchFamily="18" charset="0"/>
                <a:cs typeface="Times New Roman" panose="02020603050405020304" pitchFamily="18" charset="0"/>
              </a:rPr>
              <a:t>THANK YOU </a:t>
            </a:r>
          </a:p>
        </p:txBody>
      </p:sp>
      <p:sp>
        <p:nvSpPr>
          <p:cNvPr id="3" name="Slide Number Placeholder 2">
            <a:extLst>
              <a:ext uri="{FF2B5EF4-FFF2-40B4-BE49-F238E27FC236}">
                <a16:creationId xmlns:a16="http://schemas.microsoft.com/office/drawing/2014/main" id="{518AA397-C321-1FCB-0E71-AA9F563268CA}"/>
              </a:ext>
            </a:extLst>
          </p:cNvPr>
          <p:cNvSpPr>
            <a:spLocks noGrp="1"/>
          </p:cNvSpPr>
          <p:nvPr>
            <p:ph type="sldNum" sz="quarter" idx="12"/>
          </p:nvPr>
        </p:nvSpPr>
        <p:spPr/>
        <p:txBody>
          <a:bodyPr/>
          <a:lstStyle/>
          <a:p>
            <a:r>
              <a:rPr lang="en-US" dirty="0">
                <a:solidFill>
                  <a:schemeClr val="bg1"/>
                </a:solidFill>
              </a:rPr>
              <a:t>19</a:t>
            </a:r>
          </a:p>
        </p:txBody>
      </p:sp>
    </p:spTree>
    <p:extLst>
      <p:ext uri="{BB962C8B-B14F-4D97-AF65-F5344CB8AC3E}">
        <p14:creationId xmlns:p14="http://schemas.microsoft.com/office/powerpoint/2010/main" val="327238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A85F961-5B81-4B56-9CB3-A56E51154BB6}">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5750</TotalTime>
  <Words>1383</Words>
  <Application>Microsoft Office PowerPoint</Application>
  <PresentationFormat>Widescreen</PresentationFormat>
  <Paragraphs>168</Paragraphs>
  <Slides>20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Calibri</vt:lpstr>
      <vt:lpstr>Calibri Light</vt:lpstr>
      <vt:lpstr>CG omega</vt:lpstr>
      <vt:lpstr>Times New Roman</vt:lpstr>
      <vt:lpstr>Office Theme</vt:lpstr>
      <vt:lpstr>Time Series Forecasting and Modeling of Food Demand Supply Chain Using Regressor Analysis </vt:lpstr>
      <vt:lpstr>Abstract</vt:lpstr>
      <vt:lpstr>Introduction</vt:lpstr>
      <vt:lpstr>Literature Review:</vt:lpstr>
      <vt:lpstr>Objectives</vt:lpstr>
      <vt:lpstr>Existing Systems</vt:lpstr>
      <vt:lpstr>Problem Statement</vt:lpstr>
      <vt:lpstr>Functional And Non-Functional Requirements:</vt:lpstr>
      <vt:lpstr>Hardware &amp; Software Requirements</vt:lpstr>
      <vt:lpstr>Proposed Methodology</vt:lpstr>
      <vt:lpstr>System Architecture</vt:lpstr>
      <vt:lpstr>Use Case Diagram </vt:lpstr>
      <vt:lpstr>Sequence Diagram</vt:lpstr>
      <vt:lpstr>Class Diagram</vt:lpstr>
      <vt:lpstr>Activity Diagram</vt:lpstr>
      <vt:lpstr>Component Diagram</vt:lpstr>
      <vt:lpstr>Deployment Diagram</vt:lpstr>
      <vt:lpstr>References</vt:lpstr>
      <vt:lpstr>Future Course of Action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IOMP TITLE</dc:title>
  <dc:creator>C ARYAN</dc:creator>
  <cp:lastModifiedBy>Navya Reddy</cp:lastModifiedBy>
  <cp:revision>81</cp:revision>
  <dcterms:created xsi:type="dcterms:W3CDTF">2024-08-02T07:32:03Z</dcterms:created>
  <dcterms:modified xsi:type="dcterms:W3CDTF">2026-03-01T11:05:55Z</dcterms:modified>
</cp:coreProperties>
</file>